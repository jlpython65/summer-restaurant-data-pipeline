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9" r:id="rId4"/>
  </p:sldMasterIdLst>
  <p:sldIdLst>
    <p:sldId id="256" r:id="rId5"/>
    <p:sldId id="280" r:id="rId6"/>
    <p:sldId id="257" r:id="rId7"/>
    <p:sldId id="260" r:id="rId8"/>
    <p:sldId id="266" r:id="rId9"/>
    <p:sldId id="261" r:id="rId10"/>
    <p:sldId id="265" r:id="rId11"/>
    <p:sldId id="262" r:id="rId12"/>
    <p:sldId id="264" r:id="rId13"/>
    <p:sldId id="263" r:id="rId14"/>
    <p:sldId id="267" r:id="rId15"/>
    <p:sldId id="268" r:id="rId16"/>
    <p:sldId id="271" r:id="rId17"/>
    <p:sldId id="270" r:id="rId18"/>
    <p:sldId id="272" r:id="rId19"/>
    <p:sldId id="273" r:id="rId20"/>
    <p:sldId id="274" r:id="rId21"/>
    <p:sldId id="275" r:id="rId22"/>
    <p:sldId id="276" r:id="rId23"/>
    <p:sldId id="281" r:id="rId24"/>
    <p:sldId id="282" r:id="rId25"/>
    <p:sldId id="283" r:id="rId26"/>
    <p:sldId id="277" r:id="rId27"/>
    <p:sldId id="278" r:id="rId28"/>
    <p:sldId id="279" r:id="rId29"/>
    <p:sldId id="284" r:id="rId3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264964C-690B-C481-60ED-383899E38204}" v="333" dt="2025-07-30T14:59:14.134"/>
    <p1510:client id="{3B982E65-B57F-7EAF-E1BF-B3C247085E1B}" v="1527" dt="2025-07-29T22:25:34.099"/>
    <p1510:client id="{6C2030B2-A2D0-07E3-D5AB-4AC15A1F5AD1}" v="573" dt="2025-07-29T21:18:18.055"/>
    <p1510:client id="{6F42A21C-B417-B315-04F4-8D20CB35B43E}" v="93" dt="2025-07-31T18:02:25.87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404" autoAdjust="0"/>
    <p:restoredTop sz="94660"/>
  </p:normalViewPr>
  <p:slideViewPr>
    <p:cSldViewPr snapToGrid="0">
      <p:cViewPr>
        <p:scale>
          <a:sx n="66" d="100"/>
          <a:sy n="66" d="100"/>
        </p:scale>
        <p:origin x="0" y="89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microsoft.com/office/2015/10/relationships/revisionInfo" Target="revisionInfo.xml"/><Relationship Id="rId8" Type="http://schemas.openxmlformats.org/officeDocument/2006/relationships/slide" Target="slides/slide4.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F2D4CAF-0634-4754-B33A-8AFE11C5E67C}" type="doc">
      <dgm:prSet loTypeId="urn:microsoft.com/office/officeart/2005/8/layout/process1" loCatId="process" qsTypeId="urn:microsoft.com/office/officeart/2005/8/quickstyle/simple1" qsCatId="simple" csTypeId="urn:microsoft.com/office/officeart/2005/8/colors/accent1_2" csCatId="accent1" phldr="1"/>
      <dgm:spPr/>
      <dgm:t>
        <a:bodyPr/>
        <a:lstStyle/>
        <a:p>
          <a:endParaRPr lang="en-US"/>
        </a:p>
      </dgm:t>
    </dgm:pt>
    <dgm:pt modelId="{CD9E29FD-9167-40DE-AE5B-21C50F79EEC6}">
      <dgm:prSet phldrT="[Text]"/>
      <dgm:spPr/>
      <dgm:t>
        <a:bodyPr/>
        <a:lstStyle/>
        <a:p>
          <a:r>
            <a:rPr lang="en-US" dirty="0"/>
            <a:t>Scanner</a:t>
          </a:r>
        </a:p>
        <a:p>
          <a:r>
            <a:rPr lang="en-US" dirty="0"/>
            <a:t>(</a:t>
          </a:r>
          <a:r>
            <a:rPr lang="en-US" dirty="0" err="1"/>
            <a:t>CamScanner</a:t>
          </a:r>
          <a:r>
            <a:rPr lang="en-US" dirty="0"/>
            <a:t> App)</a:t>
          </a:r>
        </a:p>
      </dgm:t>
    </dgm:pt>
    <dgm:pt modelId="{1BC702DA-7B77-4F3D-B154-43A91569BF1C}" type="parTrans" cxnId="{F22DF987-0671-41BC-9FB2-5280791FC6D9}">
      <dgm:prSet/>
      <dgm:spPr/>
      <dgm:t>
        <a:bodyPr/>
        <a:lstStyle/>
        <a:p>
          <a:endParaRPr lang="en-US"/>
        </a:p>
      </dgm:t>
    </dgm:pt>
    <dgm:pt modelId="{88F959DC-0772-436D-9969-DC1583D8DE77}" type="sibTrans" cxnId="{F22DF987-0671-41BC-9FB2-5280791FC6D9}">
      <dgm:prSet/>
      <dgm:spPr/>
      <dgm:t>
        <a:bodyPr/>
        <a:lstStyle/>
        <a:p>
          <a:endParaRPr lang="en-US"/>
        </a:p>
      </dgm:t>
    </dgm:pt>
    <dgm:pt modelId="{0BAB2890-09FE-4747-92D6-CC1F8D8F7B6A}">
      <dgm:prSet phldrT="[Text]"/>
      <dgm:spPr/>
      <dgm:t>
        <a:bodyPr/>
        <a:lstStyle/>
        <a:p>
          <a:r>
            <a:rPr lang="en-US" dirty="0"/>
            <a:t>Database</a:t>
          </a:r>
        </a:p>
        <a:p>
          <a:r>
            <a:rPr lang="en-US" dirty="0"/>
            <a:t>(Google Drive)</a:t>
          </a:r>
        </a:p>
      </dgm:t>
    </dgm:pt>
    <dgm:pt modelId="{D2906AE6-4862-4772-956A-AA74F700ACBC}" type="parTrans" cxnId="{A7C1CA62-FA9D-49D4-B266-D6BDD872CCF2}">
      <dgm:prSet/>
      <dgm:spPr/>
      <dgm:t>
        <a:bodyPr/>
        <a:lstStyle/>
        <a:p>
          <a:endParaRPr lang="en-US"/>
        </a:p>
      </dgm:t>
    </dgm:pt>
    <dgm:pt modelId="{0BE4FE14-F4EB-4DF7-9BF0-A747F51FC20F}" type="sibTrans" cxnId="{A7C1CA62-FA9D-49D4-B266-D6BDD872CCF2}">
      <dgm:prSet/>
      <dgm:spPr/>
      <dgm:t>
        <a:bodyPr/>
        <a:lstStyle/>
        <a:p>
          <a:endParaRPr lang="en-US"/>
        </a:p>
      </dgm:t>
    </dgm:pt>
    <dgm:pt modelId="{B65C29EE-7B5D-47D5-B463-0699E7FF1A8F}">
      <dgm:prSet phldrT="[Text]"/>
      <dgm:spPr/>
      <dgm:t>
        <a:bodyPr/>
        <a:lstStyle/>
        <a:p>
          <a:r>
            <a:rPr lang="en-US" dirty="0"/>
            <a:t>Handwritten Text Recognition (HTR)</a:t>
          </a:r>
        </a:p>
        <a:p>
          <a:r>
            <a:rPr lang="en-US" dirty="0"/>
            <a:t>(</a:t>
          </a:r>
          <a:r>
            <a:rPr lang="en-US" dirty="0" err="1"/>
            <a:t>EasyOCR</a:t>
          </a:r>
          <a:r>
            <a:rPr lang="en-US" dirty="0"/>
            <a:t>)</a:t>
          </a:r>
        </a:p>
      </dgm:t>
    </dgm:pt>
    <dgm:pt modelId="{D5C9429D-0571-4CD0-8F57-D87B165C5A13}" type="parTrans" cxnId="{DE3FBE8C-D65F-4A33-A7AC-2130D46D4F7B}">
      <dgm:prSet/>
      <dgm:spPr/>
      <dgm:t>
        <a:bodyPr/>
        <a:lstStyle/>
        <a:p>
          <a:endParaRPr lang="en-US"/>
        </a:p>
      </dgm:t>
    </dgm:pt>
    <dgm:pt modelId="{14D7BF5D-1ACB-4191-8CAA-3B52128DE57A}" type="sibTrans" cxnId="{DE3FBE8C-D65F-4A33-A7AC-2130D46D4F7B}">
      <dgm:prSet/>
      <dgm:spPr/>
      <dgm:t>
        <a:bodyPr/>
        <a:lstStyle/>
        <a:p>
          <a:endParaRPr lang="en-US"/>
        </a:p>
      </dgm:t>
    </dgm:pt>
    <dgm:pt modelId="{B4254DD9-686B-4428-8951-56CFD0BF8DA9}">
      <dgm:prSet/>
      <dgm:spPr/>
      <dgm:t>
        <a:bodyPr/>
        <a:lstStyle/>
        <a:p>
          <a:r>
            <a:rPr lang="en-US" dirty="0"/>
            <a:t>CSV</a:t>
          </a:r>
        </a:p>
        <a:p>
          <a:r>
            <a:rPr lang="en-US" dirty="0"/>
            <a:t>(Google Sheets)</a:t>
          </a:r>
        </a:p>
      </dgm:t>
    </dgm:pt>
    <dgm:pt modelId="{2B0DB695-2B05-4991-84E0-5F3FDE491245}" type="parTrans" cxnId="{6AFB18D4-565A-4BB8-B8E2-E4CC1E50DDB7}">
      <dgm:prSet/>
      <dgm:spPr/>
      <dgm:t>
        <a:bodyPr/>
        <a:lstStyle/>
        <a:p>
          <a:endParaRPr lang="en-US"/>
        </a:p>
      </dgm:t>
    </dgm:pt>
    <dgm:pt modelId="{C6169494-160A-4F0C-BB2C-CD6BF92292EB}" type="sibTrans" cxnId="{6AFB18D4-565A-4BB8-B8E2-E4CC1E50DDB7}">
      <dgm:prSet/>
      <dgm:spPr/>
      <dgm:t>
        <a:bodyPr/>
        <a:lstStyle/>
        <a:p>
          <a:endParaRPr lang="en-US"/>
        </a:p>
      </dgm:t>
    </dgm:pt>
    <dgm:pt modelId="{0FF64F1D-9288-4E56-A531-D5CC76720534}">
      <dgm:prSet/>
      <dgm:spPr/>
      <dgm:t>
        <a:bodyPr/>
        <a:lstStyle/>
        <a:p>
          <a:r>
            <a:rPr lang="en-US" dirty="0"/>
            <a:t>ML</a:t>
          </a:r>
        </a:p>
        <a:p>
          <a:r>
            <a:rPr lang="en-US" dirty="0"/>
            <a:t>(Scikit-learn)</a:t>
          </a:r>
        </a:p>
      </dgm:t>
    </dgm:pt>
    <dgm:pt modelId="{92B1DEF8-F87A-4189-BEDB-AE77B0EE1FC0}" type="parTrans" cxnId="{4E18D550-B893-4D9F-B72A-514F3FB14300}">
      <dgm:prSet/>
      <dgm:spPr/>
      <dgm:t>
        <a:bodyPr/>
        <a:lstStyle/>
        <a:p>
          <a:endParaRPr lang="en-US"/>
        </a:p>
      </dgm:t>
    </dgm:pt>
    <dgm:pt modelId="{BFBADAE3-078C-4DD8-829E-FF65C8D9B750}" type="sibTrans" cxnId="{4E18D550-B893-4D9F-B72A-514F3FB14300}">
      <dgm:prSet/>
      <dgm:spPr/>
      <dgm:t>
        <a:bodyPr/>
        <a:lstStyle/>
        <a:p>
          <a:endParaRPr lang="en-US"/>
        </a:p>
      </dgm:t>
    </dgm:pt>
    <dgm:pt modelId="{488330A6-AF07-4E15-813A-AC2270BA0B3B}" type="pres">
      <dgm:prSet presAssocID="{8F2D4CAF-0634-4754-B33A-8AFE11C5E67C}" presName="Name0" presStyleCnt="0">
        <dgm:presLayoutVars>
          <dgm:dir/>
          <dgm:resizeHandles val="exact"/>
        </dgm:presLayoutVars>
      </dgm:prSet>
      <dgm:spPr/>
    </dgm:pt>
    <dgm:pt modelId="{75B3125E-21DD-411D-BB87-64BCF1ADFEB4}" type="pres">
      <dgm:prSet presAssocID="{CD9E29FD-9167-40DE-AE5B-21C50F79EEC6}" presName="node" presStyleLbl="node1" presStyleIdx="0" presStyleCnt="5">
        <dgm:presLayoutVars>
          <dgm:bulletEnabled val="1"/>
        </dgm:presLayoutVars>
      </dgm:prSet>
      <dgm:spPr/>
    </dgm:pt>
    <dgm:pt modelId="{5B14E8C9-CE21-49DE-81DF-DEBA39E8DD97}" type="pres">
      <dgm:prSet presAssocID="{88F959DC-0772-436D-9969-DC1583D8DE77}" presName="sibTrans" presStyleLbl="sibTrans2D1" presStyleIdx="0" presStyleCnt="4"/>
      <dgm:spPr/>
    </dgm:pt>
    <dgm:pt modelId="{70919260-8FE1-45B1-AA1A-20AC76E70C65}" type="pres">
      <dgm:prSet presAssocID="{88F959DC-0772-436D-9969-DC1583D8DE77}" presName="connectorText" presStyleLbl="sibTrans2D1" presStyleIdx="0" presStyleCnt="4"/>
      <dgm:spPr/>
    </dgm:pt>
    <dgm:pt modelId="{7BD634F6-D250-45D2-A7F8-0A61D8BC9E29}" type="pres">
      <dgm:prSet presAssocID="{0BAB2890-09FE-4747-92D6-CC1F8D8F7B6A}" presName="node" presStyleLbl="node1" presStyleIdx="1" presStyleCnt="5" custScaleX="152169">
        <dgm:presLayoutVars>
          <dgm:bulletEnabled val="1"/>
        </dgm:presLayoutVars>
      </dgm:prSet>
      <dgm:spPr/>
    </dgm:pt>
    <dgm:pt modelId="{1B533709-1EB4-4F0F-8417-97EEE9413E22}" type="pres">
      <dgm:prSet presAssocID="{0BE4FE14-F4EB-4DF7-9BF0-A747F51FC20F}" presName="sibTrans" presStyleLbl="sibTrans2D1" presStyleIdx="1" presStyleCnt="4"/>
      <dgm:spPr/>
    </dgm:pt>
    <dgm:pt modelId="{3D2E24D1-C2EF-4693-A71B-BBC122F2B4DC}" type="pres">
      <dgm:prSet presAssocID="{0BE4FE14-F4EB-4DF7-9BF0-A747F51FC20F}" presName="connectorText" presStyleLbl="sibTrans2D1" presStyleIdx="1" presStyleCnt="4"/>
      <dgm:spPr/>
    </dgm:pt>
    <dgm:pt modelId="{595CEA7F-9C6A-4E9E-9F98-3047AC433961}" type="pres">
      <dgm:prSet presAssocID="{B65C29EE-7B5D-47D5-B463-0699E7FF1A8F}" presName="node" presStyleLbl="node1" presStyleIdx="2" presStyleCnt="5" custScaleX="183758">
        <dgm:presLayoutVars>
          <dgm:bulletEnabled val="1"/>
        </dgm:presLayoutVars>
      </dgm:prSet>
      <dgm:spPr/>
    </dgm:pt>
    <dgm:pt modelId="{078CFE8D-3237-48ED-AFB1-3935DAE0A7D6}" type="pres">
      <dgm:prSet presAssocID="{14D7BF5D-1ACB-4191-8CAA-3B52128DE57A}" presName="sibTrans" presStyleLbl="sibTrans2D1" presStyleIdx="2" presStyleCnt="4"/>
      <dgm:spPr/>
    </dgm:pt>
    <dgm:pt modelId="{6AC0B144-6B36-4EB0-AD72-867A3BE654A1}" type="pres">
      <dgm:prSet presAssocID="{14D7BF5D-1ACB-4191-8CAA-3B52128DE57A}" presName="connectorText" presStyleLbl="sibTrans2D1" presStyleIdx="2" presStyleCnt="4"/>
      <dgm:spPr/>
    </dgm:pt>
    <dgm:pt modelId="{89F1F6C5-8564-4D8B-AA5C-C5D6B321F120}" type="pres">
      <dgm:prSet presAssocID="{B4254DD9-686B-4428-8951-56CFD0BF8DA9}" presName="node" presStyleLbl="node1" presStyleIdx="3" presStyleCnt="5">
        <dgm:presLayoutVars>
          <dgm:bulletEnabled val="1"/>
        </dgm:presLayoutVars>
      </dgm:prSet>
      <dgm:spPr/>
    </dgm:pt>
    <dgm:pt modelId="{B2F19DF3-0738-4DF2-A7C0-E832D74F87FA}" type="pres">
      <dgm:prSet presAssocID="{C6169494-160A-4F0C-BB2C-CD6BF92292EB}" presName="sibTrans" presStyleLbl="sibTrans2D1" presStyleIdx="3" presStyleCnt="4"/>
      <dgm:spPr/>
    </dgm:pt>
    <dgm:pt modelId="{B20A7C19-9878-4ED5-AB82-918EA8A26776}" type="pres">
      <dgm:prSet presAssocID="{C6169494-160A-4F0C-BB2C-CD6BF92292EB}" presName="connectorText" presStyleLbl="sibTrans2D1" presStyleIdx="3" presStyleCnt="4"/>
      <dgm:spPr/>
    </dgm:pt>
    <dgm:pt modelId="{8734F2C7-E49A-4E33-839C-7828233366E2}" type="pres">
      <dgm:prSet presAssocID="{0FF64F1D-9288-4E56-A531-D5CC76720534}" presName="node" presStyleLbl="node1" presStyleIdx="4" presStyleCnt="5">
        <dgm:presLayoutVars>
          <dgm:bulletEnabled val="1"/>
        </dgm:presLayoutVars>
      </dgm:prSet>
      <dgm:spPr/>
    </dgm:pt>
  </dgm:ptLst>
  <dgm:cxnLst>
    <dgm:cxn modelId="{A1A05911-D3D4-4742-8F72-E542B3296FF5}" type="presOf" srcId="{C6169494-160A-4F0C-BB2C-CD6BF92292EB}" destId="{B20A7C19-9878-4ED5-AB82-918EA8A26776}" srcOrd="1" destOrd="0" presId="urn:microsoft.com/office/officeart/2005/8/layout/process1"/>
    <dgm:cxn modelId="{3A05561C-EF7A-4C63-B351-1D482B2DF8C2}" type="presOf" srcId="{0FF64F1D-9288-4E56-A531-D5CC76720534}" destId="{8734F2C7-E49A-4E33-839C-7828233366E2}" srcOrd="0" destOrd="0" presId="urn:microsoft.com/office/officeart/2005/8/layout/process1"/>
    <dgm:cxn modelId="{37D62A2F-E25C-47FF-B496-BF88FFD336FD}" type="presOf" srcId="{14D7BF5D-1ACB-4191-8CAA-3B52128DE57A}" destId="{078CFE8D-3237-48ED-AFB1-3935DAE0A7D6}" srcOrd="0" destOrd="0" presId="urn:microsoft.com/office/officeart/2005/8/layout/process1"/>
    <dgm:cxn modelId="{68EF0833-2573-4640-ACBB-17788C753EF2}" type="presOf" srcId="{B4254DD9-686B-4428-8951-56CFD0BF8DA9}" destId="{89F1F6C5-8564-4D8B-AA5C-C5D6B321F120}" srcOrd="0" destOrd="0" presId="urn:microsoft.com/office/officeart/2005/8/layout/process1"/>
    <dgm:cxn modelId="{A7C1CA62-FA9D-49D4-B266-D6BDD872CCF2}" srcId="{8F2D4CAF-0634-4754-B33A-8AFE11C5E67C}" destId="{0BAB2890-09FE-4747-92D6-CC1F8D8F7B6A}" srcOrd="1" destOrd="0" parTransId="{D2906AE6-4862-4772-956A-AA74F700ACBC}" sibTransId="{0BE4FE14-F4EB-4DF7-9BF0-A747F51FC20F}"/>
    <dgm:cxn modelId="{D7B29C65-2C42-4631-9C74-50CA4AEDD3B6}" type="presOf" srcId="{88F959DC-0772-436D-9969-DC1583D8DE77}" destId="{5B14E8C9-CE21-49DE-81DF-DEBA39E8DD97}" srcOrd="0" destOrd="0" presId="urn:microsoft.com/office/officeart/2005/8/layout/process1"/>
    <dgm:cxn modelId="{125D3D6A-A0B7-4A8E-A53B-6C82075D2EB0}" type="presOf" srcId="{88F959DC-0772-436D-9969-DC1583D8DE77}" destId="{70919260-8FE1-45B1-AA1A-20AC76E70C65}" srcOrd="1" destOrd="0" presId="urn:microsoft.com/office/officeart/2005/8/layout/process1"/>
    <dgm:cxn modelId="{45B8BD4C-3413-4DB7-8F07-6BBABFE29CCD}" type="presOf" srcId="{CD9E29FD-9167-40DE-AE5B-21C50F79EEC6}" destId="{75B3125E-21DD-411D-BB87-64BCF1ADFEB4}" srcOrd="0" destOrd="0" presId="urn:microsoft.com/office/officeart/2005/8/layout/process1"/>
    <dgm:cxn modelId="{4E18D550-B893-4D9F-B72A-514F3FB14300}" srcId="{8F2D4CAF-0634-4754-B33A-8AFE11C5E67C}" destId="{0FF64F1D-9288-4E56-A531-D5CC76720534}" srcOrd="4" destOrd="0" parTransId="{92B1DEF8-F87A-4189-BEDB-AE77B0EE1FC0}" sibTransId="{BFBADAE3-078C-4DD8-829E-FF65C8D9B750}"/>
    <dgm:cxn modelId="{495F8575-74D9-43B5-9FE1-666DEF37C4FD}" type="presOf" srcId="{0BE4FE14-F4EB-4DF7-9BF0-A747F51FC20F}" destId="{3D2E24D1-C2EF-4693-A71B-BBC122F2B4DC}" srcOrd="1" destOrd="0" presId="urn:microsoft.com/office/officeart/2005/8/layout/process1"/>
    <dgm:cxn modelId="{F22DF987-0671-41BC-9FB2-5280791FC6D9}" srcId="{8F2D4CAF-0634-4754-B33A-8AFE11C5E67C}" destId="{CD9E29FD-9167-40DE-AE5B-21C50F79EEC6}" srcOrd="0" destOrd="0" parTransId="{1BC702DA-7B77-4F3D-B154-43A91569BF1C}" sibTransId="{88F959DC-0772-436D-9969-DC1583D8DE77}"/>
    <dgm:cxn modelId="{DE3FBE8C-D65F-4A33-A7AC-2130D46D4F7B}" srcId="{8F2D4CAF-0634-4754-B33A-8AFE11C5E67C}" destId="{B65C29EE-7B5D-47D5-B463-0699E7FF1A8F}" srcOrd="2" destOrd="0" parTransId="{D5C9429D-0571-4CD0-8F57-D87B165C5A13}" sibTransId="{14D7BF5D-1ACB-4191-8CAA-3B52128DE57A}"/>
    <dgm:cxn modelId="{D0C697B1-C6A3-49BA-A5C6-FFA56B9DD3D0}" type="presOf" srcId="{C6169494-160A-4F0C-BB2C-CD6BF92292EB}" destId="{B2F19DF3-0738-4DF2-A7C0-E832D74F87FA}" srcOrd="0" destOrd="0" presId="urn:microsoft.com/office/officeart/2005/8/layout/process1"/>
    <dgm:cxn modelId="{3507F2B9-1960-4A57-9ADA-6E1C5CDFC131}" type="presOf" srcId="{0BAB2890-09FE-4747-92D6-CC1F8D8F7B6A}" destId="{7BD634F6-D250-45D2-A7F8-0A61D8BC9E29}" srcOrd="0" destOrd="0" presId="urn:microsoft.com/office/officeart/2005/8/layout/process1"/>
    <dgm:cxn modelId="{F43AFEB9-3F8E-4DDB-A758-5FE5600DB814}" type="presOf" srcId="{B65C29EE-7B5D-47D5-B463-0699E7FF1A8F}" destId="{595CEA7F-9C6A-4E9E-9F98-3047AC433961}" srcOrd="0" destOrd="0" presId="urn:microsoft.com/office/officeart/2005/8/layout/process1"/>
    <dgm:cxn modelId="{23BECFD1-908B-4799-8485-CC523F304AB8}" type="presOf" srcId="{14D7BF5D-1ACB-4191-8CAA-3B52128DE57A}" destId="{6AC0B144-6B36-4EB0-AD72-867A3BE654A1}" srcOrd="1" destOrd="0" presId="urn:microsoft.com/office/officeart/2005/8/layout/process1"/>
    <dgm:cxn modelId="{6AFB18D4-565A-4BB8-B8E2-E4CC1E50DDB7}" srcId="{8F2D4CAF-0634-4754-B33A-8AFE11C5E67C}" destId="{B4254DD9-686B-4428-8951-56CFD0BF8DA9}" srcOrd="3" destOrd="0" parTransId="{2B0DB695-2B05-4991-84E0-5F3FDE491245}" sibTransId="{C6169494-160A-4F0C-BB2C-CD6BF92292EB}"/>
    <dgm:cxn modelId="{2AD61EDF-7FAF-425C-8CF8-BC2FB3B3BBB3}" type="presOf" srcId="{8F2D4CAF-0634-4754-B33A-8AFE11C5E67C}" destId="{488330A6-AF07-4E15-813A-AC2270BA0B3B}" srcOrd="0" destOrd="0" presId="urn:microsoft.com/office/officeart/2005/8/layout/process1"/>
    <dgm:cxn modelId="{8C679EE6-4D93-4989-92BB-634773A386BD}" type="presOf" srcId="{0BE4FE14-F4EB-4DF7-9BF0-A747F51FC20F}" destId="{1B533709-1EB4-4F0F-8417-97EEE9413E22}" srcOrd="0" destOrd="0" presId="urn:microsoft.com/office/officeart/2005/8/layout/process1"/>
    <dgm:cxn modelId="{1EF7EBA3-5023-4CF9-85E2-C21120F2277D}" type="presParOf" srcId="{488330A6-AF07-4E15-813A-AC2270BA0B3B}" destId="{75B3125E-21DD-411D-BB87-64BCF1ADFEB4}" srcOrd="0" destOrd="0" presId="urn:microsoft.com/office/officeart/2005/8/layout/process1"/>
    <dgm:cxn modelId="{424586EC-2E6C-4334-B2F6-3B39C979742B}" type="presParOf" srcId="{488330A6-AF07-4E15-813A-AC2270BA0B3B}" destId="{5B14E8C9-CE21-49DE-81DF-DEBA39E8DD97}" srcOrd="1" destOrd="0" presId="urn:microsoft.com/office/officeart/2005/8/layout/process1"/>
    <dgm:cxn modelId="{90F3D132-505A-4EAF-8E95-E8D5093C0341}" type="presParOf" srcId="{5B14E8C9-CE21-49DE-81DF-DEBA39E8DD97}" destId="{70919260-8FE1-45B1-AA1A-20AC76E70C65}" srcOrd="0" destOrd="0" presId="urn:microsoft.com/office/officeart/2005/8/layout/process1"/>
    <dgm:cxn modelId="{AEB5CCAC-DC99-4D74-B3A9-F296CAE6BC21}" type="presParOf" srcId="{488330A6-AF07-4E15-813A-AC2270BA0B3B}" destId="{7BD634F6-D250-45D2-A7F8-0A61D8BC9E29}" srcOrd="2" destOrd="0" presId="urn:microsoft.com/office/officeart/2005/8/layout/process1"/>
    <dgm:cxn modelId="{EF3C325B-DDEC-42DC-A670-FCCA5EFB1653}" type="presParOf" srcId="{488330A6-AF07-4E15-813A-AC2270BA0B3B}" destId="{1B533709-1EB4-4F0F-8417-97EEE9413E22}" srcOrd="3" destOrd="0" presId="urn:microsoft.com/office/officeart/2005/8/layout/process1"/>
    <dgm:cxn modelId="{C5731349-F7ED-490C-83F1-257D1513C245}" type="presParOf" srcId="{1B533709-1EB4-4F0F-8417-97EEE9413E22}" destId="{3D2E24D1-C2EF-4693-A71B-BBC122F2B4DC}" srcOrd="0" destOrd="0" presId="urn:microsoft.com/office/officeart/2005/8/layout/process1"/>
    <dgm:cxn modelId="{8C878053-23E6-476E-91AB-3C1F4D50C190}" type="presParOf" srcId="{488330A6-AF07-4E15-813A-AC2270BA0B3B}" destId="{595CEA7F-9C6A-4E9E-9F98-3047AC433961}" srcOrd="4" destOrd="0" presId="urn:microsoft.com/office/officeart/2005/8/layout/process1"/>
    <dgm:cxn modelId="{FF293EF5-A25D-4510-939C-56BECEBD1590}" type="presParOf" srcId="{488330A6-AF07-4E15-813A-AC2270BA0B3B}" destId="{078CFE8D-3237-48ED-AFB1-3935DAE0A7D6}" srcOrd="5" destOrd="0" presId="urn:microsoft.com/office/officeart/2005/8/layout/process1"/>
    <dgm:cxn modelId="{37FAB8AD-8A05-4351-853C-721B12AFCAA5}" type="presParOf" srcId="{078CFE8D-3237-48ED-AFB1-3935DAE0A7D6}" destId="{6AC0B144-6B36-4EB0-AD72-867A3BE654A1}" srcOrd="0" destOrd="0" presId="urn:microsoft.com/office/officeart/2005/8/layout/process1"/>
    <dgm:cxn modelId="{2549E2A4-88A6-4045-9F6F-19ED5876F49F}" type="presParOf" srcId="{488330A6-AF07-4E15-813A-AC2270BA0B3B}" destId="{89F1F6C5-8564-4D8B-AA5C-C5D6B321F120}" srcOrd="6" destOrd="0" presId="urn:microsoft.com/office/officeart/2005/8/layout/process1"/>
    <dgm:cxn modelId="{58ADC4F0-2296-4471-B0AB-92776F9DA7BC}" type="presParOf" srcId="{488330A6-AF07-4E15-813A-AC2270BA0B3B}" destId="{B2F19DF3-0738-4DF2-A7C0-E832D74F87FA}" srcOrd="7" destOrd="0" presId="urn:microsoft.com/office/officeart/2005/8/layout/process1"/>
    <dgm:cxn modelId="{232E0E80-466E-400E-B8C1-3403D14816B1}" type="presParOf" srcId="{B2F19DF3-0738-4DF2-A7C0-E832D74F87FA}" destId="{B20A7C19-9878-4ED5-AB82-918EA8A26776}" srcOrd="0" destOrd="0" presId="urn:microsoft.com/office/officeart/2005/8/layout/process1"/>
    <dgm:cxn modelId="{D243EF56-F969-4FEE-B607-E4A4D47979E8}" type="presParOf" srcId="{488330A6-AF07-4E15-813A-AC2270BA0B3B}" destId="{8734F2C7-E49A-4E33-839C-7828233366E2}" srcOrd="8" destOrd="0" presId="urn:microsoft.com/office/officeart/2005/8/layout/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5B3125E-21DD-411D-BB87-64BCF1ADFEB4}">
      <dsp:nvSpPr>
        <dsp:cNvPr id="0" name=""/>
        <dsp:cNvSpPr/>
      </dsp:nvSpPr>
      <dsp:spPr>
        <a:xfrm>
          <a:off x="6478" y="740788"/>
          <a:ext cx="1349466" cy="10753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Scanner</a:t>
          </a:r>
        </a:p>
        <a:p>
          <a:pPr marL="0" lvl="0" indent="0" algn="ctr" defTabSz="711200">
            <a:lnSpc>
              <a:spcPct val="90000"/>
            </a:lnSpc>
            <a:spcBef>
              <a:spcPct val="0"/>
            </a:spcBef>
            <a:spcAft>
              <a:spcPct val="35000"/>
            </a:spcAft>
            <a:buNone/>
          </a:pPr>
          <a:r>
            <a:rPr lang="en-US" sz="1600" kern="1200" dirty="0"/>
            <a:t>(</a:t>
          </a:r>
          <a:r>
            <a:rPr lang="en-US" sz="1600" kern="1200" dirty="0" err="1"/>
            <a:t>CamScanner</a:t>
          </a:r>
          <a:r>
            <a:rPr lang="en-US" sz="1600" kern="1200" dirty="0"/>
            <a:t> App)</a:t>
          </a:r>
        </a:p>
      </dsp:txBody>
      <dsp:txXfrm>
        <a:off x="37974" y="772284"/>
        <a:ext cx="1286474" cy="1012364"/>
      </dsp:txXfrm>
    </dsp:sp>
    <dsp:sp modelId="{5B14E8C9-CE21-49DE-81DF-DEBA39E8DD97}">
      <dsp:nvSpPr>
        <dsp:cNvPr id="0" name=""/>
        <dsp:cNvSpPr/>
      </dsp:nvSpPr>
      <dsp:spPr>
        <a:xfrm>
          <a:off x="1490891" y="1111132"/>
          <a:ext cx="286086" cy="3346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1490891" y="1178065"/>
        <a:ext cx="200260" cy="200801"/>
      </dsp:txXfrm>
    </dsp:sp>
    <dsp:sp modelId="{7BD634F6-D250-45D2-A7F8-0A61D8BC9E29}">
      <dsp:nvSpPr>
        <dsp:cNvPr id="0" name=""/>
        <dsp:cNvSpPr/>
      </dsp:nvSpPr>
      <dsp:spPr>
        <a:xfrm>
          <a:off x="1895731" y="740788"/>
          <a:ext cx="2053469" cy="10753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Database</a:t>
          </a:r>
        </a:p>
        <a:p>
          <a:pPr marL="0" lvl="0" indent="0" algn="ctr" defTabSz="711200">
            <a:lnSpc>
              <a:spcPct val="90000"/>
            </a:lnSpc>
            <a:spcBef>
              <a:spcPct val="0"/>
            </a:spcBef>
            <a:spcAft>
              <a:spcPct val="35000"/>
            </a:spcAft>
            <a:buNone/>
          </a:pPr>
          <a:r>
            <a:rPr lang="en-US" sz="1600" kern="1200" dirty="0"/>
            <a:t>(Google Drive)</a:t>
          </a:r>
        </a:p>
      </dsp:txBody>
      <dsp:txXfrm>
        <a:off x="1927227" y="772284"/>
        <a:ext cx="1990477" cy="1012364"/>
      </dsp:txXfrm>
    </dsp:sp>
    <dsp:sp modelId="{1B533709-1EB4-4F0F-8417-97EEE9413E22}">
      <dsp:nvSpPr>
        <dsp:cNvPr id="0" name=""/>
        <dsp:cNvSpPr/>
      </dsp:nvSpPr>
      <dsp:spPr>
        <a:xfrm>
          <a:off x="4084147" y="1111132"/>
          <a:ext cx="286086" cy="3346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4084147" y="1178065"/>
        <a:ext cx="200260" cy="200801"/>
      </dsp:txXfrm>
    </dsp:sp>
    <dsp:sp modelId="{595CEA7F-9C6A-4E9E-9F98-3047AC433961}">
      <dsp:nvSpPr>
        <dsp:cNvPr id="0" name=""/>
        <dsp:cNvSpPr/>
      </dsp:nvSpPr>
      <dsp:spPr>
        <a:xfrm>
          <a:off x="4488987" y="740788"/>
          <a:ext cx="2479752" cy="10753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Handwritten Text Recognition (HTR)</a:t>
          </a:r>
        </a:p>
        <a:p>
          <a:pPr marL="0" lvl="0" indent="0" algn="ctr" defTabSz="711200">
            <a:lnSpc>
              <a:spcPct val="90000"/>
            </a:lnSpc>
            <a:spcBef>
              <a:spcPct val="0"/>
            </a:spcBef>
            <a:spcAft>
              <a:spcPct val="35000"/>
            </a:spcAft>
            <a:buNone/>
          </a:pPr>
          <a:r>
            <a:rPr lang="en-US" sz="1600" kern="1200" dirty="0"/>
            <a:t>(</a:t>
          </a:r>
          <a:r>
            <a:rPr lang="en-US" sz="1600" kern="1200" dirty="0" err="1"/>
            <a:t>EasyOCR</a:t>
          </a:r>
          <a:r>
            <a:rPr lang="en-US" sz="1600" kern="1200" dirty="0"/>
            <a:t>)</a:t>
          </a:r>
        </a:p>
      </dsp:txBody>
      <dsp:txXfrm>
        <a:off x="4520483" y="772284"/>
        <a:ext cx="2416760" cy="1012364"/>
      </dsp:txXfrm>
    </dsp:sp>
    <dsp:sp modelId="{078CFE8D-3237-48ED-AFB1-3935DAE0A7D6}">
      <dsp:nvSpPr>
        <dsp:cNvPr id="0" name=""/>
        <dsp:cNvSpPr/>
      </dsp:nvSpPr>
      <dsp:spPr>
        <a:xfrm>
          <a:off x="7103687" y="1111132"/>
          <a:ext cx="286086" cy="3346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7103687" y="1178065"/>
        <a:ext cx="200260" cy="200801"/>
      </dsp:txXfrm>
    </dsp:sp>
    <dsp:sp modelId="{89F1F6C5-8564-4D8B-AA5C-C5D6B321F120}">
      <dsp:nvSpPr>
        <dsp:cNvPr id="0" name=""/>
        <dsp:cNvSpPr/>
      </dsp:nvSpPr>
      <dsp:spPr>
        <a:xfrm>
          <a:off x="7508526" y="740788"/>
          <a:ext cx="1349466" cy="10753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CSV</a:t>
          </a:r>
        </a:p>
        <a:p>
          <a:pPr marL="0" lvl="0" indent="0" algn="ctr" defTabSz="711200">
            <a:lnSpc>
              <a:spcPct val="90000"/>
            </a:lnSpc>
            <a:spcBef>
              <a:spcPct val="0"/>
            </a:spcBef>
            <a:spcAft>
              <a:spcPct val="35000"/>
            </a:spcAft>
            <a:buNone/>
          </a:pPr>
          <a:r>
            <a:rPr lang="en-US" sz="1600" kern="1200" dirty="0"/>
            <a:t>(Google Sheets)</a:t>
          </a:r>
        </a:p>
      </dsp:txBody>
      <dsp:txXfrm>
        <a:off x="7540022" y="772284"/>
        <a:ext cx="1286474" cy="1012364"/>
      </dsp:txXfrm>
    </dsp:sp>
    <dsp:sp modelId="{B2F19DF3-0738-4DF2-A7C0-E832D74F87FA}">
      <dsp:nvSpPr>
        <dsp:cNvPr id="0" name=""/>
        <dsp:cNvSpPr/>
      </dsp:nvSpPr>
      <dsp:spPr>
        <a:xfrm>
          <a:off x="8992940" y="1111132"/>
          <a:ext cx="286086" cy="334667"/>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dsp:txBody>
      <dsp:txXfrm>
        <a:off x="8992940" y="1178065"/>
        <a:ext cx="200260" cy="200801"/>
      </dsp:txXfrm>
    </dsp:sp>
    <dsp:sp modelId="{8734F2C7-E49A-4E33-839C-7828233366E2}">
      <dsp:nvSpPr>
        <dsp:cNvPr id="0" name=""/>
        <dsp:cNvSpPr/>
      </dsp:nvSpPr>
      <dsp:spPr>
        <a:xfrm>
          <a:off x="9397780" y="740788"/>
          <a:ext cx="1349466" cy="1075356"/>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ML</a:t>
          </a:r>
        </a:p>
        <a:p>
          <a:pPr marL="0" lvl="0" indent="0" algn="ctr" defTabSz="711200">
            <a:lnSpc>
              <a:spcPct val="90000"/>
            </a:lnSpc>
            <a:spcBef>
              <a:spcPct val="0"/>
            </a:spcBef>
            <a:spcAft>
              <a:spcPct val="35000"/>
            </a:spcAft>
            <a:buNone/>
          </a:pPr>
          <a:r>
            <a:rPr lang="en-US" sz="1600" kern="1200" dirty="0"/>
            <a:t>(Scikit-learn)</a:t>
          </a:r>
        </a:p>
      </dsp:txBody>
      <dsp:txXfrm>
        <a:off x="9429276" y="772284"/>
        <a:ext cx="1286474" cy="101236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3B99F6F0-1CB5-4453-B7E8-057C9877378B}" type="datetimeFigureOut">
              <a:rPr lang="en-US" smtClean="0"/>
              <a:t>7/31/2025</a:t>
            </a:fld>
            <a:endParaRPr lang="en-US"/>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2B48F897-CFD1-4D86-A7E9-C056CB3E133F}" type="slidenum">
              <a:rPr lang="en-US" smtClean="0"/>
              <a:t>‹#›</a:t>
            </a:fld>
            <a:endParaRPr lang="en-US"/>
          </a:p>
        </p:txBody>
      </p:sp>
    </p:spTree>
    <p:extLst>
      <p:ext uri="{BB962C8B-B14F-4D97-AF65-F5344CB8AC3E}">
        <p14:creationId xmlns:p14="http://schemas.microsoft.com/office/powerpoint/2010/main" val="23839201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99F6F0-1CB5-4453-B7E8-057C9877378B}"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48F897-CFD1-4D86-A7E9-C056CB3E133F}" type="slidenum">
              <a:rPr lang="en-US" smtClean="0"/>
              <a:t>‹#›</a:t>
            </a:fld>
            <a:endParaRPr lang="en-US"/>
          </a:p>
        </p:txBody>
      </p:sp>
    </p:spTree>
    <p:extLst>
      <p:ext uri="{BB962C8B-B14F-4D97-AF65-F5344CB8AC3E}">
        <p14:creationId xmlns:p14="http://schemas.microsoft.com/office/powerpoint/2010/main" val="35307670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en-US"/>
              <a:t>Click to edit Master title style</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99F6F0-1CB5-4453-B7E8-057C9877378B}"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48F897-CFD1-4D86-A7E9-C056CB3E133F}" type="slidenum">
              <a:rPr lang="en-US" smtClean="0"/>
              <a:t>‹#›</a:t>
            </a:fld>
            <a:endParaRPr lang="en-US"/>
          </a:p>
        </p:txBody>
      </p:sp>
    </p:spTree>
    <p:extLst>
      <p:ext uri="{BB962C8B-B14F-4D97-AF65-F5344CB8AC3E}">
        <p14:creationId xmlns:p14="http://schemas.microsoft.com/office/powerpoint/2010/main" val="13945936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99F6F0-1CB5-4453-B7E8-057C9877378B}" type="datetimeFigureOut">
              <a:rPr lang="en-US" smtClean="0"/>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B48F897-CFD1-4D86-A7E9-C056CB3E133F}" type="slidenum">
              <a:rPr lang="en-US" smtClean="0"/>
              <a:t>‹#›</a:t>
            </a:fld>
            <a:endParaRPr lang="en-US"/>
          </a:p>
        </p:txBody>
      </p:sp>
    </p:spTree>
    <p:extLst>
      <p:ext uri="{BB962C8B-B14F-4D97-AF65-F5344CB8AC3E}">
        <p14:creationId xmlns:p14="http://schemas.microsoft.com/office/powerpoint/2010/main" val="25188209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99F6F0-1CB5-4453-B7E8-057C9877378B}" type="datetimeFigureOut">
              <a:rPr lang="en-US" smtClean="0"/>
              <a:t>7/31/2025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B48F897-CFD1-4D86-A7E9-C056CB3E133F}" type="slidenum">
              <a:rPr lang="en-US" smtClean="0"/>
              <a:t>‹#›</a:t>
            </a:fld>
            <a:endParaRPr lang="en-US"/>
          </a:p>
        </p:txBody>
      </p:sp>
    </p:spTree>
    <p:extLst>
      <p:ext uri="{BB962C8B-B14F-4D97-AF65-F5344CB8AC3E}">
        <p14:creationId xmlns:p14="http://schemas.microsoft.com/office/powerpoint/2010/main" val="410704788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99F6F0-1CB5-4453-B7E8-057C9877378B}" type="datetimeFigureOut">
              <a:rPr lang="en-US" smtClean="0"/>
              <a:t>7/31/2025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B48F897-CFD1-4D86-A7E9-C056CB3E133F}" type="slidenum">
              <a:rPr lang="en-US" smtClean="0"/>
              <a:t>‹#›</a:t>
            </a:fld>
            <a:endParaRPr lang="en-US"/>
          </a:p>
        </p:txBody>
      </p:sp>
    </p:spTree>
    <p:extLst>
      <p:ext uri="{BB962C8B-B14F-4D97-AF65-F5344CB8AC3E}">
        <p14:creationId xmlns:p14="http://schemas.microsoft.com/office/powerpoint/2010/main" val="724345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99F6F0-1CB5-4453-B7E8-057C9877378B}" type="datetimeFigureOut">
              <a:rPr lang="en-US" smtClean="0"/>
              <a:t>7/31/2025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B48F897-CFD1-4D86-A7E9-C056CB3E133F}" type="slidenum">
              <a:rPr lang="en-US" smtClean="0"/>
              <a:t>‹#›</a:t>
            </a:fld>
            <a:endParaRPr lang="en-US"/>
          </a:p>
        </p:txBody>
      </p:sp>
    </p:spTree>
    <p:extLst>
      <p:ext uri="{BB962C8B-B14F-4D97-AF65-F5344CB8AC3E}">
        <p14:creationId xmlns:p14="http://schemas.microsoft.com/office/powerpoint/2010/main" val="19875913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en-US"/>
              <a:t>Click to edit Master text styles</a:t>
            </a:r>
          </a:p>
        </p:txBody>
      </p:sp>
      <p:sp>
        <p:nvSpPr>
          <p:cNvPr id="5" name="Date Placeholder 4"/>
          <p:cNvSpPr>
            <a:spLocks noGrp="1"/>
          </p:cNvSpPr>
          <p:nvPr>
            <p:ph type="dt" sz="half" idx="10"/>
          </p:nvPr>
        </p:nvSpPr>
        <p:spPr/>
        <p:txBody>
          <a:bodyPr/>
          <a:lstStyle/>
          <a:p>
            <a:fld id="{3B99F6F0-1CB5-4453-B7E8-057C9877378B}" type="datetimeFigureOut">
              <a:rPr lang="en-US" smtClean="0"/>
              <a:t>7/31/2025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2B48F897-CFD1-4D86-A7E9-C056CB3E133F}" type="slidenum">
              <a:rPr lang="en-US" smtClean="0"/>
              <a:t>‹#›</a:t>
            </a:fld>
            <a:endParaRPr lang="en-US"/>
          </a:p>
        </p:txBody>
      </p:sp>
    </p:spTree>
    <p:extLst>
      <p:ext uri="{BB962C8B-B14F-4D97-AF65-F5344CB8AC3E}">
        <p14:creationId xmlns:p14="http://schemas.microsoft.com/office/powerpoint/2010/main" val="17531376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3B99F6F0-1CB5-4453-B7E8-057C9877378B}" type="datetimeFigureOut">
              <a:rPr lang="en-US" smtClean="0"/>
              <a:t>7/31/2025</a:t>
            </a:fld>
            <a:endParaRPr lang="en-US"/>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en-US"/>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2B48F897-CFD1-4D86-A7E9-C056CB3E133F}" type="slidenum">
              <a:rPr lang="en-US" smtClean="0"/>
              <a:t>‹#›</a:t>
            </a:fld>
            <a:endParaRPr lang="en-US"/>
          </a:p>
        </p:txBody>
      </p:sp>
    </p:spTree>
    <p:extLst>
      <p:ext uri="{BB962C8B-B14F-4D97-AF65-F5344CB8AC3E}">
        <p14:creationId xmlns:p14="http://schemas.microsoft.com/office/powerpoint/2010/main" val="3634664034"/>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99F6F0-1CB5-4453-B7E8-057C9877378B}"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48F897-CFD1-4D86-A7E9-C056CB3E133F}" type="slidenum">
              <a:rPr lang="en-US" smtClean="0"/>
              <a:t>‹#›</a:t>
            </a:fld>
            <a:endParaRPr lang="en-US"/>
          </a:p>
        </p:txBody>
      </p:sp>
    </p:spTree>
    <p:extLst>
      <p:ext uri="{BB962C8B-B14F-4D97-AF65-F5344CB8AC3E}">
        <p14:creationId xmlns:p14="http://schemas.microsoft.com/office/powerpoint/2010/main" val="9766853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99F6F0-1CB5-4453-B7E8-057C9877378B}" type="datetimeFigureOut">
              <a:rPr lang="en-US" smtClean="0"/>
              <a:t>7/31/2025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B48F897-CFD1-4D86-A7E9-C056CB3E133F}" type="slidenum">
              <a:rPr lang="en-US" smtClean="0"/>
              <a:t>‹#›</a:t>
            </a:fld>
            <a:endParaRPr lang="en-US"/>
          </a:p>
        </p:txBody>
      </p:sp>
    </p:spTree>
    <p:extLst>
      <p:ext uri="{BB962C8B-B14F-4D97-AF65-F5344CB8AC3E}">
        <p14:creationId xmlns:p14="http://schemas.microsoft.com/office/powerpoint/2010/main" val="41414235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3B99F6F0-1CB5-4453-B7E8-057C9877378B}" type="datetimeFigureOut">
              <a:rPr lang="en-US" smtClean="0"/>
              <a:t>7/31/2025</a:t>
            </a:fld>
            <a:endParaRPr lang="en-US"/>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en-US"/>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2B48F897-CFD1-4D86-A7E9-C056CB3E133F}" type="slidenum">
              <a:rPr lang="en-US" smtClean="0"/>
              <a:t>‹#›</a:t>
            </a:fld>
            <a:endParaRPr lang="en-US"/>
          </a:p>
        </p:txBody>
      </p:sp>
    </p:spTree>
    <p:extLst>
      <p:ext uri="{BB962C8B-B14F-4D97-AF65-F5344CB8AC3E}">
        <p14:creationId xmlns:p14="http://schemas.microsoft.com/office/powerpoint/2010/main" val="3717422453"/>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Layout" Target="../diagrams/layout1.xml"/><Relationship Id="rId7" Type="http://schemas.openxmlformats.org/officeDocument/2006/relationships/image" Target="../media/image1.png"/><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5.png"/><Relationship Id="rId5" Type="http://schemas.openxmlformats.org/officeDocument/2006/relationships/diagramColors" Target="../diagrams/colors1.xml"/><Relationship Id="rId10" Type="http://schemas.openxmlformats.org/officeDocument/2006/relationships/image" Target="../media/image4.png"/><Relationship Id="rId4" Type="http://schemas.openxmlformats.org/officeDocument/2006/relationships/diagramQuickStyle" Target="../diagrams/quickStyle1.xml"/><Relationship Id="rId9"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mailto:bichngaocr@gmail.com" TargetMode="Externa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hyperlink" Target="https://github.com/googleapis/google-api-python-client/blob/main/docs/oauth.md"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2" Type="http://schemas.openxmlformats.org/officeDocument/2006/relationships/hyperlink" Target="https://drive.google.com/file/d/1ZIfs1_aDYyff1xKg51MrQAp0XjN-uqdp/view?usp=drive_link"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docs.google.com/spreadsheets/d/1c6yoR7HS1L0c01luGCFNedeO05wo0u71Ct-yKXQeMgA/edit?gid=1585925212#gid=1585925212" TargetMode="External"/><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hyperlink" Target="https://drive.google.com/file/d/1D5fN2jIArxUwWsS7aVTp6iu2Yn4VjIrp/view?usp=drive_link"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hyperlink" Target="https://github.com/ageron/handson-ml3/blob/main/04_training_linear_models.ipynb" TargetMode="External"/><Relationship Id="rId2" Type="http://schemas.openxmlformats.org/officeDocument/2006/relationships/image" Target="../media/image12.png"/><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hyperlink" Target="https://colab.research.google.com/drive/13zCQdr5TOo4kFnVwD3aI1uRs_eHeKvV8?usp=sharing" TargetMode="Externa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 Id="rId5" Type="http://schemas.openxmlformats.org/officeDocument/2006/relationships/image" Target="../media/image19.png"/><Relationship Id="rId4" Type="http://schemas.openxmlformats.org/officeDocument/2006/relationships/image" Target="../media/image18.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hyperlink" Target="https://pyimagesearch.com/2019/10/14/why-is-my-validation-loss-lower-than-my-training-loss/" TargetMode="External"/><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5" Type="http://schemas.openxmlformats.org/officeDocument/2006/relationships/image" Target="../media/image33.png"/><Relationship Id="rId4" Type="http://schemas.openxmlformats.org/officeDocument/2006/relationships/image" Target="../media/image32.png"/></Relationships>
</file>

<file path=ppt/slides/_rels/slide2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 Id="rId4" Type="http://schemas.openxmlformats.org/officeDocument/2006/relationships/image" Target="../media/image36.png"/></Relationships>
</file>

<file path=ppt/slides/_rels/slide23.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ageron/handson-ml3/blob/main/04_training_linear_models.ipynb" TargetMode="External"/><Relationship Id="rId2" Type="http://schemas.openxmlformats.org/officeDocument/2006/relationships/hyperlink" Target="https://www.3blue1brown.com/topics/linear-algebra" TargetMode="External"/><Relationship Id="rId1" Type="http://schemas.openxmlformats.org/officeDocument/2006/relationships/slideLayout" Target="../slideLayouts/slideLayout2.xml"/><Relationship Id="rId4" Type="http://schemas.openxmlformats.org/officeDocument/2006/relationships/hyperlink" Target="https://www.youtube.com/watch?v=HY_VtvUKock"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DCFD3-10E7-C823-5F0B-0C9EA1DCD66A}"/>
              </a:ext>
            </a:extLst>
          </p:cNvPr>
          <p:cNvSpPr>
            <a:spLocks noGrp="1"/>
          </p:cNvSpPr>
          <p:nvPr>
            <p:ph type="ctrTitle"/>
          </p:nvPr>
        </p:nvSpPr>
        <p:spPr/>
        <p:txBody>
          <a:bodyPr/>
          <a:lstStyle/>
          <a:p>
            <a:r>
              <a:rPr lang="en-US" dirty="0"/>
              <a:t>Summer Final</a:t>
            </a:r>
            <a:br>
              <a:rPr lang="en-US" dirty="0">
                <a:ea typeface="Calibri Light"/>
                <a:cs typeface="Calibri Light"/>
              </a:rPr>
            </a:br>
            <a:r>
              <a:rPr lang="en-US" dirty="0"/>
              <a:t>Check-In</a:t>
            </a:r>
          </a:p>
        </p:txBody>
      </p:sp>
      <p:sp>
        <p:nvSpPr>
          <p:cNvPr id="3" name="Subtitle 2">
            <a:extLst>
              <a:ext uri="{FF2B5EF4-FFF2-40B4-BE49-F238E27FC236}">
                <a16:creationId xmlns:a16="http://schemas.microsoft.com/office/drawing/2014/main" id="{3562B1CA-F96B-8EFF-824F-1861691ED753}"/>
              </a:ext>
            </a:extLst>
          </p:cNvPr>
          <p:cNvSpPr>
            <a:spLocks noGrp="1"/>
          </p:cNvSpPr>
          <p:nvPr>
            <p:ph type="subTitle" idx="1"/>
          </p:nvPr>
        </p:nvSpPr>
        <p:spPr>
          <a:xfrm>
            <a:off x="806196" y="3940705"/>
            <a:ext cx="9144000" cy="648686"/>
          </a:xfrm>
        </p:spPr>
        <p:txBody>
          <a:bodyPr/>
          <a:lstStyle/>
          <a:p>
            <a:r>
              <a:rPr lang="en-US" dirty="0"/>
              <a:t>By Jason Lee</a:t>
            </a:r>
          </a:p>
        </p:txBody>
      </p:sp>
    </p:spTree>
    <p:extLst>
      <p:ext uri="{BB962C8B-B14F-4D97-AF65-F5344CB8AC3E}">
        <p14:creationId xmlns:p14="http://schemas.microsoft.com/office/powerpoint/2010/main" val="614307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987D6A-18A6-30C2-B145-D4EA0548BA66}"/>
              </a:ext>
            </a:extLst>
          </p:cNvPr>
          <p:cNvSpPr>
            <a:spLocks noGrp="1"/>
          </p:cNvSpPr>
          <p:nvPr>
            <p:ph type="title"/>
          </p:nvPr>
        </p:nvSpPr>
        <p:spPr/>
        <p:txBody>
          <a:bodyPr/>
          <a:lstStyle/>
          <a:p>
            <a:r>
              <a:rPr lang="en-US" dirty="0">
                <a:ea typeface="Calibri Light"/>
                <a:cs typeface="Calibri Light"/>
              </a:rPr>
              <a:t>Purpose</a:t>
            </a:r>
            <a:endParaRPr lang="en-US" dirty="0"/>
          </a:p>
        </p:txBody>
      </p:sp>
      <p:sp>
        <p:nvSpPr>
          <p:cNvPr id="3" name="Content Placeholder 2">
            <a:extLst>
              <a:ext uri="{FF2B5EF4-FFF2-40B4-BE49-F238E27FC236}">
                <a16:creationId xmlns:a16="http://schemas.microsoft.com/office/drawing/2014/main" id="{0AEBE5CF-9D82-795D-8050-7A3E2BBAACCA}"/>
              </a:ext>
            </a:extLst>
          </p:cNvPr>
          <p:cNvSpPr>
            <a:spLocks noGrp="1"/>
          </p:cNvSpPr>
          <p:nvPr>
            <p:ph idx="1"/>
          </p:nvPr>
        </p:nvSpPr>
        <p:spPr/>
        <p:txBody>
          <a:bodyPr vert="horz" lIns="91440" tIns="45720" rIns="91440" bIns="45720" rtlCol="0" anchor="t">
            <a:normAutofit/>
          </a:bodyPr>
          <a:lstStyle/>
          <a:p>
            <a:pPr marL="342900" indent="-342900">
              <a:buFont typeface="Calibri" pitchFamily="34" charset="0"/>
              <a:buChar char="-"/>
            </a:pPr>
            <a:r>
              <a:rPr lang="en-US" dirty="0">
                <a:ea typeface="Calibri Light" panose="020F0302020204030204"/>
                <a:cs typeface="Calibri Light" panose="020F0302020204030204"/>
              </a:rPr>
              <a:t>Create an MVP for a </a:t>
            </a:r>
            <a:r>
              <a:rPr lang="en-US" dirty="0" err="1">
                <a:ea typeface="Calibri Light" panose="020F0302020204030204"/>
                <a:cs typeface="Calibri Light" panose="020F0302020204030204"/>
              </a:rPr>
              <a:t>datapipeline</a:t>
            </a:r>
            <a:r>
              <a:rPr lang="en-US" dirty="0">
                <a:ea typeface="Calibri Light" panose="020F0302020204030204"/>
                <a:cs typeface="Calibri Light" panose="020F0302020204030204"/>
              </a:rPr>
              <a:t> for my mom's restaurant</a:t>
            </a:r>
          </a:p>
          <a:p>
            <a:pPr marL="598805" lvl="1">
              <a:buFont typeface="Courier New" pitchFamily="34" charset="0"/>
              <a:buChar char="o"/>
            </a:pPr>
            <a:r>
              <a:rPr lang="en-US" dirty="0">
                <a:ea typeface="Calibri Light" panose="020F0302020204030204"/>
                <a:cs typeface="Calibri Light" panose="020F0302020204030204"/>
              </a:rPr>
              <a:t>At best, the product can go in to production</a:t>
            </a:r>
          </a:p>
          <a:p>
            <a:pPr marL="598805" lvl="1">
              <a:buFont typeface="Courier New" pitchFamily="34" charset="0"/>
              <a:buChar char="o"/>
            </a:pPr>
            <a:r>
              <a:rPr lang="en-US" dirty="0">
                <a:ea typeface="Calibri Light" panose="020F0302020204030204"/>
                <a:cs typeface="Calibri Light" panose="020F0302020204030204"/>
              </a:rPr>
              <a:t>At worst, I'll brainstorm my next project</a:t>
            </a:r>
          </a:p>
          <a:p>
            <a:pPr marL="342900" indent="-342900">
              <a:buFont typeface="Calibri" pitchFamily="34" charset="0"/>
              <a:buChar char="-"/>
            </a:pPr>
            <a:r>
              <a:rPr lang="en-US" dirty="0">
                <a:ea typeface="Calibri Light" panose="020F0302020204030204"/>
                <a:cs typeface="Calibri Light" panose="020F0302020204030204"/>
              </a:rPr>
              <a:t>Acquire skills to build a neural network from scratch</a:t>
            </a:r>
          </a:p>
          <a:p>
            <a:pPr marL="598805" lvl="1">
              <a:buFont typeface="Courier New" pitchFamily="34" charset="0"/>
              <a:buChar char="o"/>
            </a:pPr>
            <a:r>
              <a:rPr lang="en-US" dirty="0">
                <a:ea typeface="Calibri Light" panose="020F0302020204030204"/>
                <a:cs typeface="Calibri Light" panose="020F0302020204030204"/>
              </a:rPr>
              <a:t>Finish chapter 4 of the textbook </a:t>
            </a:r>
          </a:p>
          <a:p>
            <a:pPr marL="598805" lvl="1">
              <a:buFont typeface="Courier New" pitchFamily="34" charset="0"/>
              <a:buChar char="o"/>
            </a:pPr>
            <a:r>
              <a:rPr lang="en-US" dirty="0">
                <a:ea typeface="Calibri Light" panose="020F0302020204030204"/>
                <a:cs typeface="Calibri Light" panose="020F0302020204030204"/>
              </a:rPr>
              <a:t>Relearn Linear Algebra</a:t>
            </a:r>
          </a:p>
          <a:p>
            <a:pPr marL="342900" indent="-342900">
              <a:buFont typeface="Calibri" pitchFamily="34" charset="0"/>
              <a:buChar char="-"/>
            </a:pPr>
            <a:r>
              <a:rPr lang="en-US" dirty="0">
                <a:ea typeface="Calibri Light" panose="020F0302020204030204"/>
                <a:cs typeface="Calibri Light" panose="020F0302020204030204"/>
              </a:rPr>
              <a:t>Follow curiosity – how Normal Equations work to find optimal parameters</a:t>
            </a:r>
          </a:p>
        </p:txBody>
      </p:sp>
    </p:spTree>
    <p:extLst>
      <p:ext uri="{BB962C8B-B14F-4D97-AF65-F5344CB8AC3E}">
        <p14:creationId xmlns:p14="http://schemas.microsoft.com/office/powerpoint/2010/main" val="24053235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FD8A36-526A-32DC-D216-045D4C59092D}"/>
              </a:ext>
            </a:extLst>
          </p:cNvPr>
          <p:cNvSpPr>
            <a:spLocks noGrp="1"/>
          </p:cNvSpPr>
          <p:nvPr>
            <p:ph type="title"/>
          </p:nvPr>
        </p:nvSpPr>
        <p:spPr/>
        <p:txBody>
          <a:bodyPr/>
          <a:lstStyle/>
          <a:p>
            <a:r>
              <a:rPr lang="en-US" dirty="0"/>
              <a:t>Table of Contents</a:t>
            </a:r>
          </a:p>
        </p:txBody>
      </p:sp>
      <p:sp>
        <p:nvSpPr>
          <p:cNvPr id="3" name="Content Placeholder 2">
            <a:extLst>
              <a:ext uri="{FF2B5EF4-FFF2-40B4-BE49-F238E27FC236}">
                <a16:creationId xmlns:a16="http://schemas.microsoft.com/office/drawing/2014/main" id="{E8333827-E2C8-D48A-1F93-59FA2C5EFDB4}"/>
              </a:ext>
            </a:extLst>
          </p:cNvPr>
          <p:cNvSpPr>
            <a:spLocks noGrp="1"/>
          </p:cNvSpPr>
          <p:nvPr>
            <p:ph idx="1"/>
          </p:nvPr>
        </p:nvSpPr>
        <p:spPr>
          <a:xfrm>
            <a:off x="838200" y="1524000"/>
            <a:ext cx="10515600" cy="4652963"/>
          </a:xfrm>
        </p:spPr>
        <p:txBody>
          <a:bodyPr>
            <a:normAutofit fontScale="92500" lnSpcReduction="10000"/>
          </a:bodyPr>
          <a:lstStyle/>
          <a:p>
            <a:r>
              <a:rPr lang="en-US" dirty="0"/>
              <a:t>MVP Development</a:t>
            </a:r>
          </a:p>
          <a:p>
            <a:pPr lvl="1"/>
            <a:r>
              <a:rPr lang="en-US" dirty="0"/>
              <a:t>OCR</a:t>
            </a:r>
          </a:p>
          <a:p>
            <a:pPr lvl="1"/>
            <a:r>
              <a:rPr lang="en-US" dirty="0"/>
              <a:t>Google API Authentication</a:t>
            </a:r>
          </a:p>
          <a:p>
            <a:pPr lvl="1"/>
            <a:r>
              <a:rPr lang="en-US" dirty="0"/>
              <a:t>Google Drive + Google Sheets Services</a:t>
            </a:r>
          </a:p>
          <a:p>
            <a:pPr lvl="1"/>
            <a:r>
              <a:rPr lang="en-US" dirty="0"/>
              <a:t>ML unfinished</a:t>
            </a:r>
          </a:p>
          <a:p>
            <a:r>
              <a:rPr lang="en-US" dirty="0"/>
              <a:t>Chapter 4: How Models Learn</a:t>
            </a:r>
          </a:p>
          <a:p>
            <a:pPr lvl="1"/>
            <a:r>
              <a:rPr lang="en-US" dirty="0"/>
              <a:t>Linear Regression</a:t>
            </a:r>
          </a:p>
          <a:p>
            <a:pPr lvl="1"/>
            <a:r>
              <a:rPr lang="en-US" dirty="0"/>
              <a:t>Logistic Regression</a:t>
            </a:r>
          </a:p>
          <a:p>
            <a:pPr lvl="1"/>
            <a:r>
              <a:rPr lang="en-US" dirty="0"/>
              <a:t>Batch Gradient Descent</a:t>
            </a:r>
          </a:p>
          <a:p>
            <a:pPr lvl="1"/>
            <a:r>
              <a:rPr lang="en-US" dirty="0"/>
              <a:t>Regularization</a:t>
            </a:r>
          </a:p>
          <a:p>
            <a:pPr lvl="1"/>
            <a:r>
              <a:rPr lang="en-US" dirty="0"/>
              <a:t>Results w/ Early Stopping</a:t>
            </a:r>
          </a:p>
          <a:p>
            <a:pPr marL="4572" lvl="1" indent="0">
              <a:buNone/>
            </a:pPr>
            <a:endParaRPr lang="en-US" dirty="0"/>
          </a:p>
          <a:p>
            <a:r>
              <a:rPr lang="en-US" dirty="0"/>
              <a:t>	</a:t>
            </a:r>
          </a:p>
          <a:p>
            <a:pPr lvl="1"/>
            <a:endParaRPr lang="en-US" dirty="0"/>
          </a:p>
        </p:txBody>
      </p:sp>
    </p:spTree>
    <p:extLst>
      <p:ext uri="{BB962C8B-B14F-4D97-AF65-F5344CB8AC3E}">
        <p14:creationId xmlns:p14="http://schemas.microsoft.com/office/powerpoint/2010/main" val="86940135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92AB91-CF3D-6500-0C35-CCAE43573217}"/>
              </a:ext>
            </a:extLst>
          </p:cNvPr>
          <p:cNvSpPr>
            <a:spLocks noGrp="1"/>
          </p:cNvSpPr>
          <p:nvPr>
            <p:ph type="title"/>
          </p:nvPr>
        </p:nvSpPr>
        <p:spPr>
          <a:xfrm>
            <a:off x="677334" y="609600"/>
            <a:ext cx="8596668" cy="812800"/>
          </a:xfrm>
        </p:spPr>
        <p:txBody>
          <a:bodyPr>
            <a:normAutofit fontScale="90000"/>
          </a:bodyPr>
          <a:lstStyle/>
          <a:p>
            <a:r>
              <a:rPr lang="en-US" dirty="0"/>
              <a:t>Café Bich Nga Data Pipeline MVP</a:t>
            </a:r>
          </a:p>
        </p:txBody>
      </p:sp>
      <p:sp>
        <p:nvSpPr>
          <p:cNvPr id="3" name="Content Placeholder 2">
            <a:extLst>
              <a:ext uri="{FF2B5EF4-FFF2-40B4-BE49-F238E27FC236}">
                <a16:creationId xmlns:a16="http://schemas.microsoft.com/office/drawing/2014/main" id="{3F6C502C-7478-DF39-8D97-9A0D8B20A8EF}"/>
              </a:ext>
            </a:extLst>
          </p:cNvPr>
          <p:cNvSpPr>
            <a:spLocks noGrp="1"/>
          </p:cNvSpPr>
          <p:nvPr>
            <p:ph idx="1"/>
          </p:nvPr>
        </p:nvSpPr>
        <p:spPr>
          <a:xfrm>
            <a:off x="676656" y="4097867"/>
            <a:ext cx="10753725" cy="1679998"/>
          </a:xfrm>
        </p:spPr>
        <p:txBody>
          <a:bodyPr>
            <a:normAutofit fontScale="92500"/>
          </a:bodyPr>
          <a:lstStyle/>
          <a:p>
            <a:endParaRPr lang="en-US" dirty="0"/>
          </a:p>
          <a:p>
            <a:r>
              <a:rPr lang="en-US" dirty="0"/>
              <a:t>The goal of this data pipeline is to </a:t>
            </a:r>
          </a:p>
          <a:p>
            <a:pPr lvl="1"/>
            <a:r>
              <a:rPr lang="en-US" dirty="0"/>
              <a:t>- Train a machine learning (ML) model to predict future customer orders and turn out </a:t>
            </a:r>
          </a:p>
          <a:p>
            <a:pPr lvl="1"/>
            <a:r>
              <a:rPr lang="en-US" dirty="0"/>
              <a:t>- Have a POS system that would do all the accounting for my mother.</a:t>
            </a:r>
          </a:p>
        </p:txBody>
      </p:sp>
      <p:graphicFrame>
        <p:nvGraphicFramePr>
          <p:cNvPr id="4" name="Diagram 3">
            <a:extLst>
              <a:ext uri="{FF2B5EF4-FFF2-40B4-BE49-F238E27FC236}">
                <a16:creationId xmlns:a16="http://schemas.microsoft.com/office/drawing/2014/main" id="{7FF3EB3E-81DD-1C82-864C-277E8B7DDFB3}"/>
              </a:ext>
            </a:extLst>
          </p:cNvPr>
          <p:cNvGraphicFramePr/>
          <p:nvPr>
            <p:extLst>
              <p:ext uri="{D42A27DB-BD31-4B8C-83A1-F6EECF244321}">
                <p14:modId xmlns:p14="http://schemas.microsoft.com/office/powerpoint/2010/main" val="1865501162"/>
              </p:ext>
            </p:extLst>
          </p:nvPr>
        </p:nvGraphicFramePr>
        <p:xfrm>
          <a:off x="676656" y="1422400"/>
          <a:ext cx="10753725" cy="25569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26" name="Picture 2" descr="Camscanner Logo Icons for Your Digital Needs">
            <a:extLst>
              <a:ext uri="{FF2B5EF4-FFF2-40B4-BE49-F238E27FC236}">
                <a16:creationId xmlns:a16="http://schemas.microsoft.com/office/drawing/2014/main" id="{6859ED81-2049-C204-5901-3C124D512D9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56538" y="3183467"/>
            <a:ext cx="1041400" cy="1041400"/>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1738926-4D06-89AD-1967-7CFC30C8651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86676" y="3337658"/>
            <a:ext cx="815698" cy="733017"/>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Jaided AI - Distribute the benefits of AI to the world">
            <a:extLst>
              <a:ext uri="{FF2B5EF4-FFF2-40B4-BE49-F238E27FC236}">
                <a16:creationId xmlns:a16="http://schemas.microsoft.com/office/drawing/2014/main" id="{E972F6AC-7EB8-82B8-0B15-120C63B3B990}"/>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717138" y="3359757"/>
            <a:ext cx="1062524" cy="795867"/>
          </a:xfrm>
          <a:prstGeom prst="rect">
            <a:avLst/>
          </a:prstGeom>
          <a:noFill/>
          <a:extLst>
            <a:ext uri="{909E8E84-426E-40DD-AFC4-6F175D3DCCD1}">
              <a14:hiddenFill xmlns:a14="http://schemas.microsoft.com/office/drawing/2010/main">
                <a:solidFill>
                  <a:srgbClr val="FFFFFF"/>
                </a:solidFill>
              </a14:hiddenFill>
            </a:ext>
          </a:extLst>
        </p:spPr>
      </p:pic>
      <p:sp>
        <p:nvSpPr>
          <p:cNvPr id="5" name="AutoShape 8" descr="Google Sheets Logo PNG Vector (EPS) Free Download">
            <a:extLst>
              <a:ext uri="{FF2B5EF4-FFF2-40B4-BE49-F238E27FC236}">
                <a16:creationId xmlns:a16="http://schemas.microsoft.com/office/drawing/2014/main" id="{6D137EB2-08CE-6FAA-F012-EC4A64BBEEC6}"/>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4" name="Picture 10">
            <a:extLst>
              <a:ext uri="{FF2B5EF4-FFF2-40B4-BE49-F238E27FC236}">
                <a16:creationId xmlns:a16="http://schemas.microsoft.com/office/drawing/2014/main" id="{8BAC0F40-8BBE-28EC-3592-B8F4C93DD40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8720888" y="3383230"/>
            <a:ext cx="455578" cy="626583"/>
          </a:xfrm>
          <a:prstGeom prst="rect">
            <a:avLst/>
          </a:prstGeom>
          <a:noFill/>
          <a:extLst>
            <a:ext uri="{909E8E84-426E-40DD-AFC4-6F175D3DCCD1}">
              <a14:hiddenFill xmlns:a14="http://schemas.microsoft.com/office/drawing/2010/main">
                <a:solidFill>
                  <a:srgbClr val="FFFFFF"/>
                </a:solidFill>
              </a14:hiddenFill>
            </a:ext>
          </a:extLst>
        </p:spPr>
      </p:pic>
      <p:pic>
        <p:nvPicPr>
          <p:cNvPr id="1036" name="Picture 12" descr="Scikit learn Logo PNG Vector (SVG) Free Download">
            <a:extLst>
              <a:ext uri="{FF2B5EF4-FFF2-40B4-BE49-F238E27FC236}">
                <a16:creationId xmlns:a16="http://schemas.microsoft.com/office/drawing/2014/main" id="{45731993-5C9A-15CC-A9FE-209DA59DCF6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0439320" y="3307091"/>
            <a:ext cx="772007" cy="77200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531549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A1A71F-6EC9-12B2-9539-439A1690FC22}"/>
              </a:ext>
            </a:extLst>
          </p:cNvPr>
          <p:cNvSpPr>
            <a:spLocks noGrp="1"/>
          </p:cNvSpPr>
          <p:nvPr>
            <p:ph type="title"/>
          </p:nvPr>
        </p:nvSpPr>
        <p:spPr/>
        <p:txBody>
          <a:bodyPr/>
          <a:lstStyle/>
          <a:p>
            <a:r>
              <a:rPr lang="en-US" dirty="0"/>
              <a:t>Scanner: Upload to Google Drive</a:t>
            </a:r>
          </a:p>
        </p:txBody>
      </p:sp>
      <p:sp>
        <p:nvSpPr>
          <p:cNvPr id="3" name="Content Placeholder 2">
            <a:extLst>
              <a:ext uri="{FF2B5EF4-FFF2-40B4-BE49-F238E27FC236}">
                <a16:creationId xmlns:a16="http://schemas.microsoft.com/office/drawing/2014/main" id="{30B1472F-E2CF-64CA-3573-6E8603038212}"/>
              </a:ext>
            </a:extLst>
          </p:cNvPr>
          <p:cNvSpPr>
            <a:spLocks noGrp="1"/>
          </p:cNvSpPr>
          <p:nvPr>
            <p:ph idx="1"/>
          </p:nvPr>
        </p:nvSpPr>
        <p:spPr>
          <a:xfrm>
            <a:off x="1404007" y="2592282"/>
            <a:ext cx="4347913" cy="3766185"/>
          </a:xfrm>
        </p:spPr>
        <p:txBody>
          <a:bodyPr/>
          <a:lstStyle/>
          <a:p>
            <a:pPr marL="0" indent="0">
              <a:buNone/>
            </a:pPr>
            <a:r>
              <a:rPr lang="en-US" dirty="0"/>
              <a:t>I would teach mom how to </a:t>
            </a:r>
          </a:p>
          <a:p>
            <a:r>
              <a:rPr lang="en-US" dirty="0"/>
              <a:t>- Scan all of the bills</a:t>
            </a:r>
          </a:p>
          <a:p>
            <a:r>
              <a:rPr lang="en-US" dirty="0"/>
              <a:t>- Share them to Google Drive in the </a:t>
            </a:r>
            <a:r>
              <a:rPr lang="en-US" dirty="0">
                <a:hlinkClick r:id="rId2"/>
              </a:rPr>
              <a:t>bichngaocr@gmail.com</a:t>
            </a:r>
            <a:r>
              <a:rPr lang="en-US" dirty="0"/>
              <a:t> account</a:t>
            </a:r>
          </a:p>
          <a:p>
            <a:r>
              <a:rPr lang="en-US" dirty="0"/>
              <a:t>She would scan the bills at the end of the day</a:t>
            </a:r>
          </a:p>
        </p:txBody>
      </p:sp>
      <p:grpSp>
        <p:nvGrpSpPr>
          <p:cNvPr id="4" name="Group 3">
            <a:extLst>
              <a:ext uri="{FF2B5EF4-FFF2-40B4-BE49-F238E27FC236}">
                <a16:creationId xmlns:a16="http://schemas.microsoft.com/office/drawing/2014/main" id="{65F0EB75-7273-F37C-C220-442A24C925CD}"/>
              </a:ext>
            </a:extLst>
          </p:cNvPr>
          <p:cNvGrpSpPr/>
          <p:nvPr/>
        </p:nvGrpSpPr>
        <p:grpSpPr>
          <a:xfrm>
            <a:off x="6096000" y="2670772"/>
            <a:ext cx="1349466" cy="1075356"/>
            <a:chOff x="6478" y="740788"/>
            <a:chExt cx="1349466" cy="1075356"/>
          </a:xfrm>
        </p:grpSpPr>
        <p:sp>
          <p:nvSpPr>
            <p:cNvPr id="11" name="Rectangle: Rounded Corners 10">
              <a:extLst>
                <a:ext uri="{FF2B5EF4-FFF2-40B4-BE49-F238E27FC236}">
                  <a16:creationId xmlns:a16="http://schemas.microsoft.com/office/drawing/2014/main" id="{383E50EE-E87C-183D-82A8-6F7053FFACDC}"/>
                </a:ext>
              </a:extLst>
            </p:cNvPr>
            <p:cNvSpPr/>
            <p:nvPr/>
          </p:nvSpPr>
          <p:spPr>
            <a:xfrm>
              <a:off x="6478" y="740788"/>
              <a:ext cx="1349466" cy="107535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12" name="Rectangle: Rounded Corners 4">
              <a:extLst>
                <a:ext uri="{FF2B5EF4-FFF2-40B4-BE49-F238E27FC236}">
                  <a16:creationId xmlns:a16="http://schemas.microsoft.com/office/drawing/2014/main" id="{83DE9227-1D45-2D3B-04E7-40F6D684DA56}"/>
                </a:ext>
              </a:extLst>
            </p:cNvPr>
            <p:cNvSpPr txBox="1"/>
            <p:nvPr/>
          </p:nvSpPr>
          <p:spPr>
            <a:xfrm>
              <a:off x="37974" y="772284"/>
              <a:ext cx="1286474" cy="101236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Scanner</a:t>
              </a:r>
            </a:p>
            <a:p>
              <a:pPr marL="0" lvl="0" indent="0" algn="ctr" defTabSz="711200">
                <a:lnSpc>
                  <a:spcPct val="90000"/>
                </a:lnSpc>
                <a:spcBef>
                  <a:spcPct val="0"/>
                </a:spcBef>
                <a:spcAft>
                  <a:spcPct val="35000"/>
                </a:spcAft>
                <a:buNone/>
              </a:pPr>
              <a:r>
                <a:rPr lang="en-US" sz="1600" kern="1200" dirty="0"/>
                <a:t>(</a:t>
              </a:r>
              <a:r>
                <a:rPr lang="en-US" sz="1600" kern="1200" dirty="0" err="1"/>
                <a:t>CamScanner</a:t>
              </a:r>
              <a:r>
                <a:rPr lang="en-US" sz="1600" kern="1200" dirty="0"/>
                <a:t> App)</a:t>
              </a:r>
            </a:p>
          </p:txBody>
        </p:sp>
      </p:grpSp>
      <p:grpSp>
        <p:nvGrpSpPr>
          <p:cNvPr id="5" name="Group 4">
            <a:extLst>
              <a:ext uri="{FF2B5EF4-FFF2-40B4-BE49-F238E27FC236}">
                <a16:creationId xmlns:a16="http://schemas.microsoft.com/office/drawing/2014/main" id="{1D8B0B00-FA87-2F62-C6AE-B92010546D5C}"/>
              </a:ext>
            </a:extLst>
          </p:cNvPr>
          <p:cNvGrpSpPr/>
          <p:nvPr/>
        </p:nvGrpSpPr>
        <p:grpSpPr>
          <a:xfrm>
            <a:off x="7580413" y="3041116"/>
            <a:ext cx="286086" cy="334667"/>
            <a:chOff x="1490891" y="1111132"/>
            <a:chExt cx="286086" cy="334667"/>
          </a:xfrm>
        </p:grpSpPr>
        <p:sp>
          <p:nvSpPr>
            <p:cNvPr id="9" name="Arrow: Right 8">
              <a:extLst>
                <a:ext uri="{FF2B5EF4-FFF2-40B4-BE49-F238E27FC236}">
                  <a16:creationId xmlns:a16="http://schemas.microsoft.com/office/drawing/2014/main" id="{9306D4A0-D831-4D50-71DE-A351D95B29C3}"/>
                </a:ext>
              </a:extLst>
            </p:cNvPr>
            <p:cNvSpPr/>
            <p:nvPr/>
          </p:nvSpPr>
          <p:spPr>
            <a:xfrm>
              <a:off x="1490891" y="1111132"/>
              <a:ext cx="286086" cy="334667"/>
            </a:xfrm>
            <a:prstGeom prst="rightArrow">
              <a:avLst>
                <a:gd name="adj1" fmla="val 60000"/>
                <a:gd name="adj2" fmla="val 50000"/>
              </a:avLst>
            </a:prstGeom>
          </p:spPr>
          <p:style>
            <a:lnRef idx="0">
              <a:schemeClr val="accent1">
                <a:tint val="60000"/>
                <a:hueOff val="0"/>
                <a:satOff val="0"/>
                <a:lumOff val="0"/>
                <a:alphaOff val="0"/>
              </a:schemeClr>
            </a:lnRef>
            <a:fillRef idx="1">
              <a:schemeClr val="accent1">
                <a:tint val="60000"/>
                <a:hueOff val="0"/>
                <a:satOff val="0"/>
                <a:lumOff val="0"/>
                <a:alphaOff val="0"/>
              </a:schemeClr>
            </a:fillRef>
            <a:effectRef idx="0">
              <a:schemeClr val="accent1">
                <a:tint val="60000"/>
                <a:hueOff val="0"/>
                <a:satOff val="0"/>
                <a:lumOff val="0"/>
                <a:alphaOff val="0"/>
              </a:schemeClr>
            </a:effectRef>
            <a:fontRef idx="minor">
              <a:schemeClr val="lt1"/>
            </a:fontRef>
          </p:style>
          <p:txBody>
            <a:bodyPr/>
            <a:lstStyle/>
            <a:p>
              <a:endParaRPr lang="en-US"/>
            </a:p>
          </p:txBody>
        </p:sp>
        <p:sp>
          <p:nvSpPr>
            <p:cNvPr id="10" name="Arrow: Right 6">
              <a:extLst>
                <a:ext uri="{FF2B5EF4-FFF2-40B4-BE49-F238E27FC236}">
                  <a16:creationId xmlns:a16="http://schemas.microsoft.com/office/drawing/2014/main" id="{BB95892B-6EE6-D914-644B-A9CDF9231A53}"/>
                </a:ext>
              </a:extLst>
            </p:cNvPr>
            <p:cNvSpPr txBox="1"/>
            <p:nvPr/>
          </p:nvSpPr>
          <p:spPr>
            <a:xfrm>
              <a:off x="1490891" y="1178065"/>
              <a:ext cx="200260" cy="200801"/>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0" tIns="0" rIns="0" bIns="0" numCol="1" spcCol="1270" anchor="ctr" anchorCtr="0">
              <a:noAutofit/>
            </a:bodyPr>
            <a:lstStyle/>
            <a:p>
              <a:pPr marL="0" lvl="0" indent="0" algn="ctr" defTabSz="577850">
                <a:lnSpc>
                  <a:spcPct val="90000"/>
                </a:lnSpc>
                <a:spcBef>
                  <a:spcPct val="0"/>
                </a:spcBef>
                <a:spcAft>
                  <a:spcPct val="35000"/>
                </a:spcAft>
                <a:buNone/>
              </a:pPr>
              <a:endParaRPr lang="en-US" sz="1300" kern="1200"/>
            </a:p>
          </p:txBody>
        </p:sp>
      </p:grpSp>
      <p:grpSp>
        <p:nvGrpSpPr>
          <p:cNvPr id="6" name="Group 5">
            <a:extLst>
              <a:ext uri="{FF2B5EF4-FFF2-40B4-BE49-F238E27FC236}">
                <a16:creationId xmlns:a16="http://schemas.microsoft.com/office/drawing/2014/main" id="{384554EA-80F4-75E3-A5FB-B9EFAB224126}"/>
              </a:ext>
            </a:extLst>
          </p:cNvPr>
          <p:cNvGrpSpPr/>
          <p:nvPr/>
        </p:nvGrpSpPr>
        <p:grpSpPr>
          <a:xfrm>
            <a:off x="7985253" y="2670772"/>
            <a:ext cx="2053469" cy="1075356"/>
            <a:chOff x="1895731" y="740788"/>
            <a:chExt cx="2053469" cy="1075356"/>
          </a:xfrm>
        </p:grpSpPr>
        <p:sp>
          <p:nvSpPr>
            <p:cNvPr id="7" name="Rectangle: Rounded Corners 6">
              <a:extLst>
                <a:ext uri="{FF2B5EF4-FFF2-40B4-BE49-F238E27FC236}">
                  <a16:creationId xmlns:a16="http://schemas.microsoft.com/office/drawing/2014/main" id="{E2F6795A-5D69-29E6-D488-7CA2E9EFF21F}"/>
                </a:ext>
              </a:extLst>
            </p:cNvPr>
            <p:cNvSpPr/>
            <p:nvPr/>
          </p:nvSpPr>
          <p:spPr>
            <a:xfrm>
              <a:off x="1895731" y="740788"/>
              <a:ext cx="2053469" cy="1075356"/>
            </a:xfrm>
            <a:prstGeom prst="roundRect">
              <a:avLst>
                <a:gd name="adj" fmla="val 10000"/>
              </a:avLst>
            </a:pr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a:lstStyle/>
            <a:p>
              <a:endParaRPr lang="en-US"/>
            </a:p>
          </p:txBody>
        </p:sp>
        <p:sp>
          <p:nvSpPr>
            <p:cNvPr id="8" name="Rectangle: Rounded Corners 8">
              <a:extLst>
                <a:ext uri="{FF2B5EF4-FFF2-40B4-BE49-F238E27FC236}">
                  <a16:creationId xmlns:a16="http://schemas.microsoft.com/office/drawing/2014/main" id="{746BB78E-7B05-8F59-0FE3-E97DAC9F12CE}"/>
                </a:ext>
              </a:extLst>
            </p:cNvPr>
            <p:cNvSpPr txBox="1"/>
            <p:nvPr/>
          </p:nvSpPr>
          <p:spPr>
            <a:xfrm>
              <a:off x="1927227" y="772284"/>
              <a:ext cx="1990477" cy="1012364"/>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60960" tIns="60960" rIns="60960" bIns="60960" numCol="1" spcCol="1270" anchor="ctr" anchorCtr="0">
              <a:noAutofit/>
            </a:bodyPr>
            <a:lstStyle/>
            <a:p>
              <a:pPr marL="0" lvl="0" indent="0" algn="ctr" defTabSz="711200">
                <a:lnSpc>
                  <a:spcPct val="90000"/>
                </a:lnSpc>
                <a:spcBef>
                  <a:spcPct val="0"/>
                </a:spcBef>
                <a:spcAft>
                  <a:spcPct val="35000"/>
                </a:spcAft>
                <a:buNone/>
              </a:pPr>
              <a:r>
                <a:rPr lang="en-US" sz="1600" kern="1200" dirty="0"/>
                <a:t>Database</a:t>
              </a:r>
            </a:p>
            <a:p>
              <a:pPr marL="0" lvl="0" indent="0" algn="ctr" defTabSz="711200">
                <a:lnSpc>
                  <a:spcPct val="90000"/>
                </a:lnSpc>
                <a:spcBef>
                  <a:spcPct val="0"/>
                </a:spcBef>
                <a:spcAft>
                  <a:spcPct val="35000"/>
                </a:spcAft>
                <a:buNone/>
              </a:pPr>
              <a:r>
                <a:rPr lang="en-US" sz="1600" kern="1200" dirty="0"/>
                <a:t>(Google Drive)</a:t>
              </a:r>
            </a:p>
          </p:txBody>
        </p:sp>
      </p:grpSp>
      <p:pic>
        <p:nvPicPr>
          <p:cNvPr id="15" name="Picture 2" descr="Camscanner Logo Icons for Your Digital Needs">
            <a:extLst>
              <a:ext uri="{FF2B5EF4-FFF2-40B4-BE49-F238E27FC236}">
                <a16:creationId xmlns:a16="http://schemas.microsoft.com/office/drawing/2014/main" id="{A05760E8-3EA3-BF5E-CE76-BAEE71E4852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173938" y="3658870"/>
            <a:ext cx="1041400" cy="1041400"/>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4">
            <a:extLst>
              <a:ext uri="{FF2B5EF4-FFF2-40B4-BE49-F238E27FC236}">
                <a16:creationId xmlns:a16="http://schemas.microsoft.com/office/drawing/2014/main" id="{0C0508CE-AE22-8BA0-DB5A-9B8740D77E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04076" y="3813061"/>
            <a:ext cx="815698" cy="73301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2813425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910249-C163-8DF9-1C5E-CED19C4F2A0A}"/>
              </a:ext>
            </a:extLst>
          </p:cNvPr>
          <p:cNvSpPr>
            <a:spLocks noGrp="1"/>
          </p:cNvSpPr>
          <p:nvPr>
            <p:ph type="title"/>
          </p:nvPr>
        </p:nvSpPr>
        <p:spPr>
          <a:xfrm>
            <a:off x="657224" y="499533"/>
            <a:ext cx="10772775" cy="719667"/>
          </a:xfrm>
        </p:spPr>
        <p:txBody>
          <a:bodyPr>
            <a:normAutofit fontScale="90000"/>
          </a:bodyPr>
          <a:lstStyle/>
          <a:p>
            <a:r>
              <a:rPr lang="en-US" dirty="0"/>
              <a:t>Google API Services - Authentication</a:t>
            </a:r>
          </a:p>
        </p:txBody>
      </p:sp>
      <p:sp>
        <p:nvSpPr>
          <p:cNvPr id="3" name="Content Placeholder 2">
            <a:extLst>
              <a:ext uri="{FF2B5EF4-FFF2-40B4-BE49-F238E27FC236}">
                <a16:creationId xmlns:a16="http://schemas.microsoft.com/office/drawing/2014/main" id="{800E45B8-CE59-7ED4-6333-F98896B3EEDC}"/>
              </a:ext>
            </a:extLst>
          </p:cNvPr>
          <p:cNvSpPr>
            <a:spLocks noGrp="1"/>
          </p:cNvSpPr>
          <p:nvPr>
            <p:ph idx="1"/>
          </p:nvPr>
        </p:nvSpPr>
        <p:spPr>
          <a:xfrm>
            <a:off x="228600" y="1219200"/>
            <a:ext cx="5525303" cy="5367866"/>
          </a:xfrm>
        </p:spPr>
        <p:txBody>
          <a:bodyPr>
            <a:normAutofit lnSpcReduction="10000"/>
          </a:bodyPr>
          <a:lstStyle/>
          <a:p>
            <a:pPr marL="0" indent="0">
              <a:buNone/>
            </a:pPr>
            <a:r>
              <a:rPr lang="en-US" dirty="0"/>
              <a:t>Before using the Google APIs, Oauth2.0, a standard protocol to obtain an access token, is required.</a:t>
            </a:r>
          </a:p>
          <a:p>
            <a:pPr marL="0" indent="0">
              <a:buNone/>
            </a:pPr>
            <a:r>
              <a:rPr lang="en-US" dirty="0"/>
              <a:t>But Google’s API authentication code is outdated, and the only solution to this problem was found in the Google API Python client </a:t>
            </a:r>
            <a:r>
              <a:rPr lang="en-US" dirty="0">
                <a:hlinkClick r:id="rId2"/>
              </a:rPr>
              <a:t>documentation</a:t>
            </a:r>
            <a:r>
              <a:rPr lang="en-US" dirty="0"/>
              <a:t>. </a:t>
            </a:r>
          </a:p>
          <a:p>
            <a:pPr marL="0" indent="0">
              <a:buNone/>
            </a:pPr>
            <a:endParaRPr lang="en-US" dirty="0"/>
          </a:p>
          <a:p>
            <a:pPr marL="457200" indent="-457200">
              <a:buAutoNum type="arabicPeriod"/>
            </a:pPr>
            <a:r>
              <a:rPr lang="en-US" dirty="0"/>
              <a:t>Enable the API in your Google Cloud console</a:t>
            </a:r>
          </a:p>
          <a:p>
            <a:pPr marL="457200" indent="-457200">
              <a:buAutoNum type="arabicPeriod"/>
            </a:pPr>
            <a:r>
              <a:rPr lang="en-US" dirty="0"/>
              <a:t>Allow OAuth usage in “Branding”</a:t>
            </a:r>
          </a:p>
          <a:p>
            <a:pPr marL="457200" indent="-457200">
              <a:buAutoNum type="arabicPeriod"/>
            </a:pPr>
            <a:r>
              <a:rPr lang="en-US" dirty="0"/>
              <a:t>Download credentials from “Clients”</a:t>
            </a:r>
          </a:p>
          <a:p>
            <a:pPr marL="457200" indent="-457200">
              <a:buAutoNum type="arabicPeriod"/>
            </a:pPr>
            <a:r>
              <a:rPr lang="en-US" dirty="0"/>
              <a:t>Extract credentials with a configured scope to authenticate your program</a:t>
            </a:r>
          </a:p>
        </p:txBody>
      </p:sp>
      <p:pic>
        <p:nvPicPr>
          <p:cNvPr id="5" name="Picture 4">
            <a:extLst>
              <a:ext uri="{FF2B5EF4-FFF2-40B4-BE49-F238E27FC236}">
                <a16:creationId xmlns:a16="http://schemas.microsoft.com/office/drawing/2014/main" id="{3CEE43C4-F582-CC68-05AB-DD66CB8EEBE3}"/>
              </a:ext>
            </a:extLst>
          </p:cNvPr>
          <p:cNvPicPr>
            <a:picLocks noChangeAspect="1"/>
          </p:cNvPicPr>
          <p:nvPr/>
        </p:nvPicPr>
        <p:blipFill>
          <a:blip r:embed="rId3"/>
          <a:stretch>
            <a:fillRect/>
          </a:stretch>
        </p:blipFill>
        <p:spPr>
          <a:xfrm>
            <a:off x="5510982" y="4072115"/>
            <a:ext cx="6239746" cy="2514951"/>
          </a:xfrm>
          <a:prstGeom prst="rect">
            <a:avLst/>
          </a:prstGeom>
        </p:spPr>
      </p:pic>
      <p:pic>
        <p:nvPicPr>
          <p:cNvPr id="7" name="Picture 6">
            <a:extLst>
              <a:ext uri="{FF2B5EF4-FFF2-40B4-BE49-F238E27FC236}">
                <a16:creationId xmlns:a16="http://schemas.microsoft.com/office/drawing/2014/main" id="{14474C4D-8E57-6805-314B-F7E189411217}"/>
              </a:ext>
            </a:extLst>
          </p:cNvPr>
          <p:cNvPicPr>
            <a:picLocks noChangeAspect="1"/>
          </p:cNvPicPr>
          <p:nvPr/>
        </p:nvPicPr>
        <p:blipFill>
          <a:blip r:embed="rId4"/>
          <a:stretch>
            <a:fillRect/>
          </a:stretch>
        </p:blipFill>
        <p:spPr>
          <a:xfrm>
            <a:off x="5753903" y="1390439"/>
            <a:ext cx="5753903" cy="1762371"/>
          </a:xfrm>
          <a:prstGeom prst="rect">
            <a:avLst/>
          </a:prstGeom>
        </p:spPr>
      </p:pic>
    </p:spTree>
    <p:extLst>
      <p:ext uri="{BB962C8B-B14F-4D97-AF65-F5344CB8AC3E}">
        <p14:creationId xmlns:p14="http://schemas.microsoft.com/office/powerpoint/2010/main" val="5083945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8E7E3-A92A-B368-96AD-053F97E5E33B}"/>
              </a:ext>
            </a:extLst>
          </p:cNvPr>
          <p:cNvSpPr>
            <a:spLocks noGrp="1"/>
          </p:cNvSpPr>
          <p:nvPr>
            <p:ph type="title"/>
          </p:nvPr>
        </p:nvSpPr>
        <p:spPr/>
        <p:txBody>
          <a:bodyPr/>
          <a:lstStyle/>
          <a:p>
            <a:r>
              <a:rPr lang="en-US" dirty="0"/>
              <a:t>Google Drive: Download the Bills</a:t>
            </a:r>
          </a:p>
        </p:txBody>
      </p:sp>
      <p:sp>
        <p:nvSpPr>
          <p:cNvPr id="5" name="Content Placeholder 4">
            <a:extLst>
              <a:ext uri="{FF2B5EF4-FFF2-40B4-BE49-F238E27FC236}">
                <a16:creationId xmlns:a16="http://schemas.microsoft.com/office/drawing/2014/main" id="{85F966E0-25C5-12E3-8575-7CB243A53040}"/>
              </a:ext>
            </a:extLst>
          </p:cNvPr>
          <p:cNvSpPr>
            <a:spLocks noGrp="1"/>
          </p:cNvSpPr>
          <p:nvPr>
            <p:ph idx="1"/>
          </p:nvPr>
        </p:nvSpPr>
        <p:spPr/>
        <p:txBody>
          <a:bodyPr vert="horz" lIns="91440" tIns="45720" rIns="91440" bIns="45720" rtlCol="0" anchor="t">
            <a:normAutofit/>
          </a:bodyPr>
          <a:lstStyle/>
          <a:p>
            <a:r>
              <a:rPr lang="en-US" dirty="0">
                <a:ea typeface="Calibri Light"/>
                <a:cs typeface="Calibri Light"/>
                <a:hlinkClick r:id="rId2"/>
              </a:rPr>
              <a:t>Download PDF of bills</a:t>
            </a:r>
            <a:endParaRPr lang="en-US" dirty="0">
              <a:ea typeface="Calibri Light"/>
              <a:cs typeface="Calibri Light"/>
            </a:endParaRPr>
          </a:p>
          <a:p>
            <a:r>
              <a:rPr lang="en-US" dirty="0">
                <a:ea typeface="Calibri Light"/>
                <a:cs typeface="Calibri Light"/>
              </a:rPr>
              <a:t>(Embed wouldn't work)</a:t>
            </a:r>
          </a:p>
        </p:txBody>
      </p:sp>
    </p:spTree>
    <p:extLst>
      <p:ext uri="{BB962C8B-B14F-4D97-AF65-F5344CB8AC3E}">
        <p14:creationId xmlns:p14="http://schemas.microsoft.com/office/powerpoint/2010/main" val="208190452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CD333CBE-B699-4E3B-9F45-C045F77343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1">
            <a:extLst>
              <a:ext uri="{FF2B5EF4-FFF2-40B4-BE49-F238E27FC236}">
                <a16:creationId xmlns:a16="http://schemas.microsoft.com/office/drawing/2014/main" id="{1B2475A0-F2B7-E7F3-54A5-5917CE0879B4}"/>
              </a:ext>
            </a:extLst>
          </p:cNvPr>
          <p:cNvSpPr>
            <a:spLocks noGrp="1"/>
          </p:cNvSpPr>
          <p:nvPr>
            <p:ph type="title"/>
          </p:nvPr>
        </p:nvSpPr>
        <p:spPr>
          <a:xfrm>
            <a:off x="142920" y="-585893"/>
            <a:ext cx="5130120" cy="1728893"/>
          </a:xfrm>
        </p:spPr>
        <p:txBody>
          <a:bodyPr vert="horz" lIns="91440" tIns="45720" rIns="91440" bIns="45720" rtlCol="0" anchor="b">
            <a:normAutofit fontScale="90000"/>
          </a:bodyPr>
          <a:lstStyle/>
          <a:p>
            <a:pPr>
              <a:lnSpc>
                <a:spcPct val="80000"/>
              </a:lnSpc>
            </a:pPr>
            <a:r>
              <a:rPr lang="en-US" sz="7200" kern="1200" spc="-120" baseline="0" dirty="0">
                <a:solidFill>
                  <a:srgbClr val="FFFFFF"/>
                </a:solidFill>
                <a:latin typeface="+mj-lt"/>
                <a:ea typeface="+mj-ea"/>
                <a:cs typeface="+mj-cs"/>
              </a:rPr>
              <a:t>OCR – </a:t>
            </a:r>
            <a:r>
              <a:rPr lang="en-US" sz="7200" kern="1200" spc="-120" baseline="0" dirty="0" err="1">
                <a:solidFill>
                  <a:srgbClr val="FFFFFF"/>
                </a:solidFill>
                <a:latin typeface="+mj-lt"/>
                <a:ea typeface="+mj-ea"/>
                <a:cs typeface="+mj-cs"/>
              </a:rPr>
              <a:t>EasyOCR</a:t>
            </a:r>
            <a:endParaRPr lang="en-US" sz="7200" kern="1200" spc="-120" baseline="0" dirty="0">
              <a:solidFill>
                <a:srgbClr val="FFFFFF"/>
              </a:solidFill>
              <a:latin typeface="+mj-lt"/>
              <a:ea typeface="+mj-ea"/>
              <a:cs typeface="+mj-cs"/>
            </a:endParaRPr>
          </a:p>
        </p:txBody>
      </p:sp>
      <p:sp>
        <p:nvSpPr>
          <p:cNvPr id="12" name="Rectangle 11">
            <a:extLst>
              <a:ext uri="{FF2B5EF4-FFF2-40B4-BE49-F238E27FC236}">
                <a16:creationId xmlns:a16="http://schemas.microsoft.com/office/drawing/2014/main" id="{FCA118C4-32A6-466D-8453-BA738103A0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452536" y="0"/>
            <a:ext cx="6739464"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A3FC6767-2014-C6EA-A22C-B58C88B73D76}"/>
              </a:ext>
            </a:extLst>
          </p:cNvPr>
          <p:cNvPicPr>
            <a:picLocks noGrp="1" noChangeAspect="1"/>
          </p:cNvPicPr>
          <p:nvPr>
            <p:ph idx="1"/>
          </p:nvPr>
        </p:nvPicPr>
        <p:blipFill>
          <a:blip r:embed="rId2"/>
          <a:srcRect l="10246" r="9702" b="-2"/>
          <a:stretch>
            <a:fillRect/>
          </a:stretch>
        </p:blipFill>
        <p:spPr>
          <a:xfrm>
            <a:off x="6507480" y="3429000"/>
            <a:ext cx="3913296" cy="3368040"/>
          </a:xfrm>
          <a:prstGeom prst="rect">
            <a:avLst/>
          </a:prstGeom>
        </p:spPr>
      </p:pic>
      <p:sp>
        <p:nvSpPr>
          <p:cNvPr id="8" name="TextBox 7">
            <a:extLst>
              <a:ext uri="{FF2B5EF4-FFF2-40B4-BE49-F238E27FC236}">
                <a16:creationId xmlns:a16="http://schemas.microsoft.com/office/drawing/2014/main" id="{68E498A2-9803-BC76-6E78-5CF9073DD5BF}"/>
              </a:ext>
            </a:extLst>
          </p:cNvPr>
          <p:cNvSpPr txBox="1"/>
          <p:nvPr/>
        </p:nvSpPr>
        <p:spPr>
          <a:xfrm>
            <a:off x="335280" y="1463040"/>
            <a:ext cx="4937760" cy="5078313"/>
          </a:xfrm>
          <a:prstGeom prst="rect">
            <a:avLst/>
          </a:prstGeom>
          <a:noFill/>
        </p:spPr>
        <p:txBody>
          <a:bodyPr wrap="square" rtlCol="0">
            <a:spAutoFit/>
          </a:bodyPr>
          <a:lstStyle/>
          <a:p>
            <a:pPr marL="285750" indent="-285750">
              <a:buFontTx/>
              <a:buChar char="-"/>
            </a:pPr>
            <a:r>
              <a:rPr lang="en-US" dirty="0"/>
              <a:t>Sections of the image are read with “viewing rectangles” (visualized by the green rectangles around text)</a:t>
            </a:r>
          </a:p>
          <a:p>
            <a:endParaRPr lang="en-US" dirty="0"/>
          </a:p>
          <a:p>
            <a:pPr marL="285750" indent="-285750">
              <a:buFontTx/>
              <a:buChar char="-"/>
            </a:pPr>
            <a:r>
              <a:rPr lang="en-US" dirty="0"/>
              <a:t>Text is displayed on the upper left of the rectangle</a:t>
            </a:r>
          </a:p>
          <a:p>
            <a:pPr marL="285750" indent="-285750">
              <a:buFontTx/>
              <a:buChar char="-"/>
            </a:pPr>
            <a:endParaRPr lang="en-US" dirty="0"/>
          </a:p>
          <a:p>
            <a:pPr marL="285750" indent="-285750">
              <a:buFontTx/>
              <a:buChar char="-"/>
            </a:pPr>
            <a:r>
              <a:rPr lang="en-US" dirty="0"/>
              <a:t>No amount of fine-tuning will make </a:t>
            </a:r>
            <a:r>
              <a:rPr lang="en-US" dirty="0" err="1"/>
              <a:t>EasyOCR</a:t>
            </a:r>
            <a:r>
              <a:rPr lang="en-US" dirty="0"/>
              <a:t> accurate enough for production</a:t>
            </a:r>
          </a:p>
          <a:p>
            <a:pPr marL="742950" lvl="1" indent="-285750">
              <a:buFontTx/>
              <a:buChar char="-"/>
            </a:pPr>
            <a:r>
              <a:rPr lang="en-US" dirty="0"/>
              <a:t>“</a:t>
            </a:r>
            <a:r>
              <a:rPr lang="en-US" dirty="0" err="1"/>
              <a:t>Rbh</a:t>
            </a:r>
            <a:r>
              <a:rPr lang="en-US" dirty="0"/>
              <a:t>” is supposed to be “BBH” which stands for “Bun Bo Hue”</a:t>
            </a:r>
          </a:p>
          <a:p>
            <a:pPr marL="742950" lvl="1" indent="-285750">
              <a:buFontTx/>
              <a:buChar char="-"/>
            </a:pPr>
            <a:r>
              <a:rPr lang="en-US" dirty="0"/>
              <a:t>“bn” is supposed to be “BR” which stands for Bun </a:t>
            </a:r>
            <a:r>
              <a:rPr lang="en-US" dirty="0" err="1"/>
              <a:t>Rieu</a:t>
            </a:r>
            <a:endParaRPr lang="en-US" dirty="0"/>
          </a:p>
          <a:p>
            <a:pPr marL="285750" indent="-285750">
              <a:buFontTx/>
              <a:buChar char="-"/>
            </a:pPr>
            <a:r>
              <a:rPr lang="en-US" dirty="0"/>
              <a:t>Even if </a:t>
            </a:r>
            <a:r>
              <a:rPr lang="en-US" dirty="0" err="1"/>
              <a:t>EasyOCR</a:t>
            </a:r>
            <a:r>
              <a:rPr lang="en-US" dirty="0"/>
              <a:t> were reliable, one wrong 	order or miscalculation could ruin the accounting</a:t>
            </a:r>
          </a:p>
          <a:p>
            <a:pPr marL="285750" indent="-285750">
              <a:buFontTx/>
              <a:buChar char="-"/>
            </a:pPr>
            <a:endParaRPr lang="en-US" dirty="0"/>
          </a:p>
          <a:p>
            <a:pPr marL="285750" indent="-285750">
              <a:buFontTx/>
              <a:buChar char="-"/>
            </a:pPr>
            <a:r>
              <a:rPr lang="en-US" dirty="0"/>
              <a:t>Results are exported via a JSON file to the Google Sheets POS System</a:t>
            </a:r>
          </a:p>
        </p:txBody>
      </p:sp>
      <p:pic>
        <p:nvPicPr>
          <p:cNvPr id="11" name="Picture 10">
            <a:extLst>
              <a:ext uri="{FF2B5EF4-FFF2-40B4-BE49-F238E27FC236}">
                <a16:creationId xmlns:a16="http://schemas.microsoft.com/office/drawing/2014/main" id="{BCFF6460-6463-6F6B-7770-2093B3E86BC3}"/>
              </a:ext>
            </a:extLst>
          </p:cNvPr>
          <p:cNvPicPr>
            <a:picLocks noChangeAspect="1"/>
          </p:cNvPicPr>
          <p:nvPr/>
        </p:nvPicPr>
        <p:blipFill>
          <a:blip r:embed="rId3"/>
          <a:stretch>
            <a:fillRect/>
          </a:stretch>
        </p:blipFill>
        <p:spPr>
          <a:xfrm>
            <a:off x="5492180" y="1"/>
            <a:ext cx="5649079" cy="3154680"/>
          </a:xfrm>
          <a:prstGeom prst="rect">
            <a:avLst/>
          </a:prstGeom>
        </p:spPr>
      </p:pic>
    </p:spTree>
    <p:extLst>
      <p:ext uri="{BB962C8B-B14F-4D97-AF65-F5344CB8AC3E}">
        <p14:creationId xmlns:p14="http://schemas.microsoft.com/office/powerpoint/2010/main" val="34466458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F2B5D-C01D-162C-1CF9-9833C22127EF}"/>
              </a:ext>
            </a:extLst>
          </p:cNvPr>
          <p:cNvSpPr>
            <a:spLocks noGrp="1"/>
          </p:cNvSpPr>
          <p:nvPr>
            <p:ph type="title"/>
          </p:nvPr>
        </p:nvSpPr>
        <p:spPr/>
        <p:txBody>
          <a:bodyPr/>
          <a:lstStyle/>
          <a:p>
            <a:r>
              <a:rPr lang="en-US" dirty="0"/>
              <a:t>Google Sheets Template</a:t>
            </a:r>
          </a:p>
        </p:txBody>
      </p:sp>
      <p:sp>
        <p:nvSpPr>
          <p:cNvPr id="3" name="Content Placeholder 2">
            <a:extLst>
              <a:ext uri="{FF2B5EF4-FFF2-40B4-BE49-F238E27FC236}">
                <a16:creationId xmlns:a16="http://schemas.microsoft.com/office/drawing/2014/main" id="{72767A4F-E74E-521D-4E35-1777657FAC27}"/>
              </a:ext>
            </a:extLst>
          </p:cNvPr>
          <p:cNvSpPr>
            <a:spLocks noGrp="1"/>
          </p:cNvSpPr>
          <p:nvPr>
            <p:ph idx="1"/>
          </p:nvPr>
        </p:nvSpPr>
        <p:spPr/>
        <p:txBody>
          <a:bodyPr/>
          <a:lstStyle/>
          <a:p>
            <a:r>
              <a:rPr lang="en-US" dirty="0"/>
              <a:t>s</a:t>
            </a:r>
          </a:p>
        </p:txBody>
      </p:sp>
      <p:pic>
        <p:nvPicPr>
          <p:cNvPr id="5" name="Picture 4">
            <a:extLst>
              <a:ext uri="{FF2B5EF4-FFF2-40B4-BE49-F238E27FC236}">
                <a16:creationId xmlns:a16="http://schemas.microsoft.com/office/drawing/2014/main" id="{8245886B-6434-1E62-2EAE-E327ED13367E}"/>
              </a:ext>
            </a:extLst>
          </p:cNvPr>
          <p:cNvPicPr>
            <a:picLocks noChangeAspect="1"/>
          </p:cNvPicPr>
          <p:nvPr/>
        </p:nvPicPr>
        <p:blipFill>
          <a:blip r:embed="rId2"/>
          <a:stretch>
            <a:fillRect/>
          </a:stretch>
        </p:blipFill>
        <p:spPr>
          <a:xfrm>
            <a:off x="423076" y="1800821"/>
            <a:ext cx="11241069" cy="2514951"/>
          </a:xfrm>
          <a:prstGeom prst="rect">
            <a:avLst/>
          </a:prstGeom>
        </p:spPr>
      </p:pic>
      <p:sp>
        <p:nvSpPr>
          <p:cNvPr id="6" name="TextBox 5">
            <a:extLst>
              <a:ext uri="{FF2B5EF4-FFF2-40B4-BE49-F238E27FC236}">
                <a16:creationId xmlns:a16="http://schemas.microsoft.com/office/drawing/2014/main" id="{9AA45F50-9D68-5E4E-1522-17BFF691AD31}"/>
              </a:ext>
            </a:extLst>
          </p:cNvPr>
          <p:cNvSpPr txBox="1"/>
          <p:nvPr/>
        </p:nvSpPr>
        <p:spPr>
          <a:xfrm>
            <a:off x="1092200" y="4622800"/>
            <a:ext cx="9982200" cy="1477328"/>
          </a:xfrm>
          <a:prstGeom prst="rect">
            <a:avLst/>
          </a:prstGeom>
          <a:noFill/>
        </p:spPr>
        <p:txBody>
          <a:bodyPr wrap="square" rtlCol="0">
            <a:spAutoFit/>
          </a:bodyPr>
          <a:lstStyle/>
          <a:p>
            <a:pPr marL="285750" indent="-285750">
              <a:buFontTx/>
              <a:buChar char="-"/>
            </a:pPr>
            <a:r>
              <a:rPr lang="en-US" dirty="0"/>
              <a:t>After a bill is scanned with the OCR, the results are input into a point-of-sale (POS) database</a:t>
            </a:r>
          </a:p>
          <a:p>
            <a:pPr marL="285750" indent="-285750">
              <a:buFontTx/>
              <a:buChar char="-"/>
            </a:pPr>
            <a:r>
              <a:rPr lang="en-US" dirty="0"/>
              <a:t>Such a database could show which order is correlated with order type, the time, payment methods, etc.</a:t>
            </a:r>
          </a:p>
          <a:p>
            <a:pPr marL="742950" lvl="1" indent="-285750">
              <a:buFontTx/>
              <a:buChar char="-"/>
            </a:pPr>
            <a:r>
              <a:rPr lang="en-US" dirty="0"/>
              <a:t>For example, Bun Bo Hue might be preferred for lunch rather than dinner!</a:t>
            </a:r>
          </a:p>
          <a:p>
            <a:pPr marL="285750" indent="-285750">
              <a:buFontTx/>
              <a:buChar char="-"/>
            </a:pPr>
            <a:r>
              <a:rPr lang="en-US" dirty="0"/>
              <a:t>Template is taken and edited from: </a:t>
            </a:r>
            <a:r>
              <a:rPr lang="en-US" dirty="0" err="1">
                <a:hlinkClick r:id="rId3"/>
              </a:rPr>
              <a:t>myeasytool</a:t>
            </a:r>
            <a:r>
              <a:rPr lang="en-US" dirty="0"/>
              <a:t> </a:t>
            </a:r>
          </a:p>
          <a:p>
            <a:pPr marL="285750" indent="-285750">
              <a:buFontTx/>
              <a:buChar char="-"/>
            </a:pPr>
            <a:endParaRPr lang="en-US" dirty="0"/>
          </a:p>
        </p:txBody>
      </p:sp>
    </p:spTree>
    <p:extLst>
      <p:ext uri="{BB962C8B-B14F-4D97-AF65-F5344CB8AC3E}">
        <p14:creationId xmlns:p14="http://schemas.microsoft.com/office/powerpoint/2010/main" val="3769220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87E23C-0E33-15D5-E376-0F897BC20F69}"/>
              </a:ext>
            </a:extLst>
          </p:cNvPr>
          <p:cNvSpPr>
            <a:spLocks noGrp="1"/>
          </p:cNvSpPr>
          <p:nvPr>
            <p:ph type="title"/>
          </p:nvPr>
        </p:nvSpPr>
        <p:spPr>
          <a:xfrm>
            <a:off x="657224" y="499533"/>
            <a:ext cx="10772775" cy="1100667"/>
          </a:xfrm>
        </p:spPr>
        <p:txBody>
          <a:bodyPr>
            <a:normAutofit fontScale="90000"/>
          </a:bodyPr>
          <a:lstStyle/>
          <a:p>
            <a:r>
              <a:rPr lang="en-US" dirty="0"/>
              <a:t>Google Sheets: Append a JSON file as a Row</a:t>
            </a:r>
          </a:p>
        </p:txBody>
      </p:sp>
      <p:sp>
        <p:nvSpPr>
          <p:cNvPr id="5" name="Content Placeholder 4">
            <a:extLst>
              <a:ext uri="{FF2B5EF4-FFF2-40B4-BE49-F238E27FC236}">
                <a16:creationId xmlns:a16="http://schemas.microsoft.com/office/drawing/2014/main" id="{4A3C4198-3919-EF2D-D777-6891C713A5AE}"/>
              </a:ext>
            </a:extLst>
          </p:cNvPr>
          <p:cNvSpPr>
            <a:spLocks noGrp="1"/>
          </p:cNvSpPr>
          <p:nvPr>
            <p:ph idx="1"/>
          </p:nvPr>
        </p:nvSpPr>
        <p:spPr/>
        <p:txBody>
          <a:bodyPr vert="horz" lIns="91440" tIns="45720" rIns="91440" bIns="45720" rtlCol="0" anchor="t">
            <a:normAutofit/>
          </a:bodyPr>
          <a:lstStyle/>
          <a:p>
            <a:pPr marL="0" indent="0">
              <a:buNone/>
            </a:pPr>
            <a:r>
              <a:rPr lang="en-US" dirty="0">
                <a:ea typeface="Calibri Light"/>
                <a:cs typeface="Calibri Light"/>
                <a:hlinkClick r:id="rId2"/>
              </a:rPr>
              <a:t>Append a JSON file to a Google Sheet's row</a:t>
            </a:r>
            <a:endParaRPr lang="en-US">
              <a:ea typeface="Calibri Light"/>
              <a:cs typeface="Calibri Light"/>
            </a:endParaRPr>
          </a:p>
          <a:p>
            <a:r>
              <a:rPr lang="en-US" dirty="0">
                <a:ea typeface="Calibri Light"/>
                <a:cs typeface="Calibri Light"/>
              </a:rPr>
              <a:t>(Embed wouldn't work)</a:t>
            </a:r>
          </a:p>
        </p:txBody>
      </p:sp>
    </p:spTree>
    <p:extLst>
      <p:ext uri="{BB962C8B-B14F-4D97-AF65-F5344CB8AC3E}">
        <p14:creationId xmlns:p14="http://schemas.microsoft.com/office/powerpoint/2010/main" val="3694868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2A9C8B-3E0D-D6A0-B7E2-26CD9F00CD44}"/>
              </a:ext>
            </a:extLst>
          </p:cNvPr>
          <p:cNvSpPr>
            <a:spLocks noGrp="1"/>
          </p:cNvSpPr>
          <p:nvPr>
            <p:ph type="title"/>
          </p:nvPr>
        </p:nvSpPr>
        <p:spPr>
          <a:xfrm>
            <a:off x="419100" y="266701"/>
            <a:ext cx="11010899" cy="711200"/>
          </a:xfrm>
        </p:spPr>
        <p:txBody>
          <a:bodyPr>
            <a:normAutofit fontScale="90000"/>
          </a:bodyPr>
          <a:lstStyle/>
          <a:p>
            <a:r>
              <a:rPr lang="en-US" dirty="0"/>
              <a:t>The ML Code</a:t>
            </a:r>
          </a:p>
        </p:txBody>
      </p:sp>
      <p:pic>
        <p:nvPicPr>
          <p:cNvPr id="5" name="Content Placeholder 4">
            <a:extLst>
              <a:ext uri="{FF2B5EF4-FFF2-40B4-BE49-F238E27FC236}">
                <a16:creationId xmlns:a16="http://schemas.microsoft.com/office/drawing/2014/main" id="{A4DED5C7-1B49-BDA0-A4AB-D567371450C0}"/>
              </a:ext>
            </a:extLst>
          </p:cNvPr>
          <p:cNvPicPr>
            <a:picLocks noGrp="1" noChangeAspect="1"/>
          </p:cNvPicPr>
          <p:nvPr>
            <p:ph idx="1"/>
          </p:nvPr>
        </p:nvPicPr>
        <p:blipFill>
          <a:blip r:embed="rId2"/>
          <a:stretch>
            <a:fillRect/>
          </a:stretch>
        </p:blipFill>
        <p:spPr>
          <a:xfrm>
            <a:off x="6565900" y="926391"/>
            <a:ext cx="5486399" cy="5931610"/>
          </a:xfrm>
        </p:spPr>
      </p:pic>
      <p:sp>
        <p:nvSpPr>
          <p:cNvPr id="6" name="TextBox 5">
            <a:extLst>
              <a:ext uri="{FF2B5EF4-FFF2-40B4-BE49-F238E27FC236}">
                <a16:creationId xmlns:a16="http://schemas.microsoft.com/office/drawing/2014/main" id="{641954CB-C8A4-3FB9-66F8-E5656F1D22D7}"/>
              </a:ext>
            </a:extLst>
          </p:cNvPr>
          <p:cNvSpPr txBox="1"/>
          <p:nvPr/>
        </p:nvSpPr>
        <p:spPr>
          <a:xfrm>
            <a:off x="330200" y="948690"/>
            <a:ext cx="5880100" cy="4247317"/>
          </a:xfrm>
          <a:prstGeom prst="rect">
            <a:avLst/>
          </a:prstGeom>
          <a:noFill/>
        </p:spPr>
        <p:txBody>
          <a:bodyPr wrap="square" lIns="91440" tIns="45720" rIns="91440" bIns="45720" rtlCol="0" anchor="t">
            <a:spAutoFit/>
          </a:bodyPr>
          <a:lstStyle/>
          <a:p>
            <a:r>
              <a:rPr lang="en-US" dirty="0"/>
              <a:t>The Google Sheets .csv file is imported as a JSON file into a </a:t>
            </a:r>
            <a:endParaRPr lang="en-US"/>
          </a:p>
          <a:p>
            <a:r>
              <a:rPr lang="en-US" dirty="0" err="1"/>
              <a:t>Jupyter</a:t>
            </a:r>
            <a:r>
              <a:rPr lang="en-US" dirty="0"/>
              <a:t> notebook. </a:t>
            </a:r>
          </a:p>
          <a:p>
            <a:endParaRPr lang="en-US" dirty="0"/>
          </a:p>
          <a:p>
            <a:pPr marL="285750" indent="-285750">
              <a:buFont typeface="Arial" panose="020B0604020202020204" pitchFamily="34" charset="0"/>
              <a:buChar char="•"/>
            </a:pPr>
            <a:r>
              <a:rPr lang="en-US" dirty="0"/>
              <a:t>At this point, I would be </a:t>
            </a:r>
          </a:p>
          <a:p>
            <a:pPr marL="742950" lvl="1" indent="-285750">
              <a:buFont typeface="Arial" panose="020B0604020202020204" pitchFamily="34" charset="0"/>
              <a:buChar char="•"/>
            </a:pPr>
            <a:r>
              <a:rPr lang="en-US" dirty="0"/>
              <a:t>Cleaning up the data. </a:t>
            </a:r>
          </a:p>
          <a:p>
            <a:pPr marL="1200150" lvl="2" indent="-285750">
              <a:buFont typeface="Arial" panose="020B0604020202020204" pitchFamily="34" charset="0"/>
              <a:buChar char="•"/>
            </a:pPr>
            <a:r>
              <a:rPr lang="en-US" dirty="0"/>
              <a:t>Making categorical items like Orders into integers</a:t>
            </a:r>
          </a:p>
          <a:p>
            <a:pPr marL="1200150" lvl="2" indent="-285750">
              <a:buFont typeface="Arial" panose="020B0604020202020204" pitchFamily="34" charset="0"/>
              <a:buChar char="•"/>
            </a:pPr>
            <a:r>
              <a:rPr lang="en-US" dirty="0"/>
              <a:t>Excluding the price and total columns</a:t>
            </a:r>
          </a:p>
          <a:p>
            <a:pPr marL="1200150" lvl="2" indent="-285750">
              <a:buFont typeface="Arial" panose="020B0604020202020204" pitchFamily="34" charset="0"/>
              <a:buChar char="•"/>
            </a:pPr>
            <a:r>
              <a:rPr lang="en-US" dirty="0"/>
              <a:t>Scraping the internet for features</a:t>
            </a:r>
          </a:p>
          <a:p>
            <a:pPr marL="1657350" lvl="3" indent="-285750">
              <a:buFont typeface="Arial" panose="020B0604020202020204" pitchFamily="34" charset="0"/>
              <a:buChar char="•"/>
            </a:pPr>
            <a:r>
              <a:rPr lang="en-US" dirty="0"/>
              <a:t>Weather conditions</a:t>
            </a:r>
          </a:p>
          <a:p>
            <a:pPr marL="1657350" lvl="3" indent="-285750">
              <a:buFont typeface="Arial" panose="020B0604020202020204" pitchFamily="34" charset="0"/>
              <a:buChar char="•"/>
            </a:pPr>
            <a:r>
              <a:rPr lang="en-US" dirty="0"/>
              <a:t>Nearby events</a:t>
            </a:r>
          </a:p>
          <a:p>
            <a:pPr marL="285750" indent="-285750">
              <a:buFont typeface="Arial" panose="020B0604020202020204" pitchFamily="34" charset="0"/>
              <a:buChar char="•"/>
            </a:pPr>
            <a:r>
              <a:rPr lang="en-US" dirty="0"/>
              <a:t>Train a logistic regression model (more on this later) with multiple categories	</a:t>
            </a:r>
          </a:p>
          <a:p>
            <a:endParaRPr lang="en-US" dirty="0"/>
          </a:p>
          <a:p>
            <a:pPr marL="285750" indent="-285750">
              <a:buFont typeface="Arial" panose="020B0604020202020204" pitchFamily="34" charset="0"/>
              <a:buChar char="•"/>
            </a:pPr>
            <a:r>
              <a:rPr lang="en-US" dirty="0"/>
              <a:t>Test the model on an unseen part of the dataset</a:t>
            </a:r>
          </a:p>
        </p:txBody>
      </p:sp>
    </p:spTree>
    <p:extLst>
      <p:ext uri="{BB962C8B-B14F-4D97-AF65-F5344CB8AC3E}">
        <p14:creationId xmlns:p14="http://schemas.microsoft.com/office/powerpoint/2010/main" val="3223335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CF8D2D-4422-5AD1-26C7-F928EBD0362E}"/>
              </a:ext>
            </a:extLst>
          </p:cNvPr>
          <p:cNvSpPr>
            <a:spLocks noGrp="1"/>
          </p:cNvSpPr>
          <p:nvPr>
            <p:ph type="title"/>
          </p:nvPr>
        </p:nvSpPr>
        <p:spPr/>
        <p:txBody>
          <a:bodyPr/>
          <a:lstStyle/>
          <a:p>
            <a:r>
              <a:rPr lang="en-US" dirty="0"/>
              <a:t>Issues with the MVP</a:t>
            </a:r>
          </a:p>
        </p:txBody>
      </p:sp>
      <p:sp>
        <p:nvSpPr>
          <p:cNvPr id="3" name="Content Placeholder 2">
            <a:extLst>
              <a:ext uri="{FF2B5EF4-FFF2-40B4-BE49-F238E27FC236}">
                <a16:creationId xmlns:a16="http://schemas.microsoft.com/office/drawing/2014/main" id="{728F5671-7BB7-BAB2-975B-D9E9E7C7019F}"/>
              </a:ext>
            </a:extLst>
          </p:cNvPr>
          <p:cNvSpPr>
            <a:spLocks noGrp="1"/>
          </p:cNvSpPr>
          <p:nvPr>
            <p:ph idx="1"/>
          </p:nvPr>
        </p:nvSpPr>
        <p:spPr/>
        <p:txBody>
          <a:bodyPr>
            <a:normAutofit lnSpcReduction="10000"/>
          </a:bodyPr>
          <a:lstStyle/>
          <a:p>
            <a:pPr marL="0" indent="0">
              <a:buNone/>
            </a:pPr>
            <a:r>
              <a:rPr lang="en-US" dirty="0"/>
              <a:t>It wasn’t until I got to this part that I realized </a:t>
            </a:r>
          </a:p>
          <a:p>
            <a:pPr marL="285750" indent="-285750">
              <a:buFontTx/>
              <a:buChar char="-"/>
            </a:pPr>
            <a:r>
              <a:rPr lang="en-US" dirty="0"/>
              <a:t>There is little to no recorded features to base order predictions on</a:t>
            </a:r>
          </a:p>
          <a:p>
            <a:pPr marL="742950" lvl="1" indent="-285750">
              <a:buFontTx/>
              <a:buChar char="-"/>
            </a:pPr>
            <a:r>
              <a:rPr lang="en-US" dirty="0"/>
              <a:t>Whether someone orders a menu item is dependent on personal, hard-to-track variables.</a:t>
            </a:r>
          </a:p>
          <a:p>
            <a:pPr marL="742950" lvl="1" indent="-285750">
              <a:buFontTx/>
              <a:buChar char="-"/>
            </a:pPr>
            <a:r>
              <a:rPr lang="en-US" dirty="0"/>
              <a:t>Did they work out and need a meaty soup? What did their friend recommend they try? Have they eaten Vietnamese food before? Etc.</a:t>
            </a:r>
          </a:p>
          <a:p>
            <a:pPr marL="486918" indent="-285750">
              <a:buFontTx/>
              <a:buChar char="-"/>
            </a:pPr>
            <a:r>
              <a:rPr lang="en-US" dirty="0"/>
              <a:t>Even if the MVP’s purpose pivots to profit forecasting, more data is needed, which means hours 10s of hours of manual data input.	</a:t>
            </a:r>
          </a:p>
          <a:p>
            <a:pPr marL="486918" indent="-285750">
              <a:buFontTx/>
              <a:buChar char="-"/>
            </a:pPr>
            <a:r>
              <a:rPr lang="en-US" dirty="0"/>
              <a:t>The boss and the family don’t need a ML model to know what customers order because we’re collecting and interpreting the data itself</a:t>
            </a:r>
          </a:p>
          <a:p>
            <a:endParaRPr lang="en-US" dirty="0"/>
          </a:p>
        </p:txBody>
      </p:sp>
    </p:spTree>
    <p:extLst>
      <p:ext uri="{BB962C8B-B14F-4D97-AF65-F5344CB8AC3E}">
        <p14:creationId xmlns:p14="http://schemas.microsoft.com/office/powerpoint/2010/main" val="286348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5FAB3-90B4-D49E-482F-E81C3AACFFE7}"/>
              </a:ext>
            </a:extLst>
          </p:cNvPr>
          <p:cNvSpPr>
            <a:spLocks noGrp="1"/>
          </p:cNvSpPr>
          <p:nvPr>
            <p:ph type="title"/>
          </p:nvPr>
        </p:nvSpPr>
        <p:spPr/>
        <p:txBody>
          <a:bodyPr/>
          <a:lstStyle/>
          <a:p>
            <a:r>
              <a:rPr lang="en-US" dirty="0"/>
              <a:t>Chapter 4: </a:t>
            </a:r>
            <a:r>
              <a:rPr lang="en-US" dirty="0" err="1"/>
              <a:t>Softmax</a:t>
            </a:r>
            <a:r>
              <a:rPr lang="en-US" dirty="0"/>
              <a:t> Regression Project</a:t>
            </a:r>
          </a:p>
        </p:txBody>
      </p:sp>
      <p:pic>
        <p:nvPicPr>
          <p:cNvPr id="5" name="Content Placeholder 4">
            <a:extLst>
              <a:ext uri="{FF2B5EF4-FFF2-40B4-BE49-F238E27FC236}">
                <a16:creationId xmlns:a16="http://schemas.microsoft.com/office/drawing/2014/main" id="{1D1701FB-743A-8CE6-EAE3-91FD1917E3FF}"/>
              </a:ext>
            </a:extLst>
          </p:cNvPr>
          <p:cNvPicPr>
            <a:picLocks noGrp="1" noChangeAspect="1"/>
          </p:cNvPicPr>
          <p:nvPr>
            <p:ph idx="1"/>
          </p:nvPr>
        </p:nvPicPr>
        <p:blipFill>
          <a:blip r:embed="rId2"/>
          <a:stretch>
            <a:fillRect/>
          </a:stretch>
        </p:blipFill>
        <p:spPr>
          <a:xfrm>
            <a:off x="6647542" y="1882468"/>
            <a:ext cx="5544457" cy="1121989"/>
          </a:xfrm>
        </p:spPr>
      </p:pic>
      <p:sp>
        <p:nvSpPr>
          <p:cNvPr id="7" name="TextBox 6">
            <a:extLst>
              <a:ext uri="{FF2B5EF4-FFF2-40B4-BE49-F238E27FC236}">
                <a16:creationId xmlns:a16="http://schemas.microsoft.com/office/drawing/2014/main" id="{12C20859-8D7B-35EB-1296-DCD9B1AA943E}"/>
              </a:ext>
            </a:extLst>
          </p:cNvPr>
          <p:cNvSpPr txBox="1"/>
          <p:nvPr/>
        </p:nvSpPr>
        <p:spPr>
          <a:xfrm>
            <a:off x="200025" y="1964474"/>
            <a:ext cx="5667376" cy="3416320"/>
          </a:xfrm>
          <a:prstGeom prst="rect">
            <a:avLst/>
          </a:prstGeom>
          <a:noFill/>
        </p:spPr>
        <p:txBody>
          <a:bodyPr wrap="square">
            <a:spAutoFit/>
          </a:bodyPr>
          <a:lstStyle/>
          <a:p>
            <a:r>
              <a:rPr lang="en-US" dirty="0"/>
              <a:t>Using the Iris dataset provided in the book, I must create a regularized logistic regression (</a:t>
            </a:r>
            <a:r>
              <a:rPr lang="en-US" dirty="0" err="1"/>
              <a:t>softmax</a:t>
            </a:r>
            <a:r>
              <a:rPr lang="en-US" dirty="0"/>
              <a:t> regression) model to distinguish between the 3 different types of irises.</a:t>
            </a:r>
          </a:p>
          <a:p>
            <a:endParaRPr lang="en-US" dirty="0"/>
          </a:p>
          <a:p>
            <a:r>
              <a:rPr lang="en-US" dirty="0"/>
              <a:t>I have created my functions and only consulted the solution if I was stuck.</a:t>
            </a:r>
          </a:p>
          <a:p>
            <a:endParaRPr lang="en-US" dirty="0">
              <a:hlinkClick r:id="rId3"/>
            </a:endParaRPr>
          </a:p>
          <a:p>
            <a:r>
              <a:rPr lang="en-US" dirty="0">
                <a:hlinkClick r:id="rId3"/>
              </a:rPr>
              <a:t>Textbook Solution</a:t>
            </a:r>
          </a:p>
          <a:p>
            <a:endParaRPr lang="en-US" dirty="0"/>
          </a:p>
          <a:p>
            <a:r>
              <a:rPr lang="en-US" dirty="0">
                <a:hlinkClick r:id="rId4"/>
              </a:rPr>
              <a:t>My Solution</a:t>
            </a:r>
            <a:endParaRPr lang="en-US" dirty="0"/>
          </a:p>
          <a:p>
            <a:endParaRPr lang="en-US" dirty="0"/>
          </a:p>
          <a:p>
            <a:endParaRPr lang="en-US" dirty="0"/>
          </a:p>
        </p:txBody>
      </p:sp>
      <p:pic>
        <p:nvPicPr>
          <p:cNvPr id="2050" name="Picture 2">
            <a:extLst>
              <a:ext uri="{FF2B5EF4-FFF2-40B4-BE49-F238E27FC236}">
                <a16:creationId xmlns:a16="http://schemas.microsoft.com/office/drawing/2014/main" id="{482461B4-4631-34CB-D08A-FB2AC9405EAF}"/>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324599" y="3414395"/>
            <a:ext cx="5867400" cy="2571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493106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EB070-EE08-3364-DDED-7459E5FA198F}"/>
              </a:ext>
            </a:extLst>
          </p:cNvPr>
          <p:cNvSpPr>
            <a:spLocks noGrp="1"/>
          </p:cNvSpPr>
          <p:nvPr>
            <p:ph type="title"/>
          </p:nvPr>
        </p:nvSpPr>
        <p:spPr>
          <a:xfrm>
            <a:off x="657224" y="499533"/>
            <a:ext cx="10772775" cy="226608"/>
          </a:xfrm>
        </p:spPr>
        <p:txBody>
          <a:bodyPr>
            <a:normAutofit fontScale="90000"/>
          </a:bodyPr>
          <a:lstStyle/>
          <a:p>
            <a:br>
              <a:rPr lang="en-US" dirty="0"/>
            </a:br>
            <a:r>
              <a:rPr lang="en-US" dirty="0"/>
              <a:t>Linear Regression</a:t>
            </a:r>
          </a:p>
        </p:txBody>
      </p:sp>
      <p:sp>
        <p:nvSpPr>
          <p:cNvPr id="3" name="Content Placeholder 2">
            <a:extLst>
              <a:ext uri="{FF2B5EF4-FFF2-40B4-BE49-F238E27FC236}">
                <a16:creationId xmlns:a16="http://schemas.microsoft.com/office/drawing/2014/main" id="{D5A36DD5-2A6E-42E5-6793-7F99BF998E9F}"/>
              </a:ext>
            </a:extLst>
          </p:cNvPr>
          <p:cNvSpPr>
            <a:spLocks noGrp="1"/>
          </p:cNvSpPr>
          <p:nvPr>
            <p:ph idx="1"/>
          </p:nvPr>
        </p:nvSpPr>
        <p:spPr>
          <a:xfrm>
            <a:off x="676656" y="2011680"/>
            <a:ext cx="5901125" cy="3766185"/>
          </a:xfrm>
        </p:spPr>
        <p:txBody>
          <a:bodyPr>
            <a:normAutofit lnSpcReduction="10000"/>
          </a:bodyPr>
          <a:lstStyle/>
          <a:p>
            <a:r>
              <a:rPr lang="en-US" dirty="0"/>
              <a:t>ML models are trained when they find parameters that can yield satisfactory predictions for real-world data. </a:t>
            </a:r>
          </a:p>
          <a:p>
            <a:r>
              <a:rPr lang="en-US" dirty="0"/>
              <a:t>The parameters in this case are a matrix of weights (b) and a single value bias (a). </a:t>
            </a:r>
          </a:p>
          <a:p>
            <a:r>
              <a:rPr lang="en-US" dirty="0"/>
              <a:t>To evaluate the parameters of our model, there is an error function that tracks the difference between the prediction and the actual value.</a:t>
            </a:r>
          </a:p>
          <a:p>
            <a:r>
              <a:rPr lang="en-US" dirty="0"/>
              <a:t>The output is often referred to as the “score” of a logistic regressor. </a:t>
            </a:r>
          </a:p>
        </p:txBody>
      </p:sp>
      <p:pic>
        <p:nvPicPr>
          <p:cNvPr id="1030" name="Picture 6" descr="Linear Regressions — The Basic. How to Understand Linear Regression… | by  J3 | Jungletronics | Medium">
            <a:extLst>
              <a:ext uri="{FF2B5EF4-FFF2-40B4-BE49-F238E27FC236}">
                <a16:creationId xmlns:a16="http://schemas.microsoft.com/office/drawing/2014/main" id="{691B54CE-D6DC-08A6-F56F-4C7BE40DFA7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78169" y="241911"/>
            <a:ext cx="4083424" cy="3062568"/>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BE483E3F-C26F-9E36-BE52-E5EE6410F4CC}"/>
              </a:ext>
            </a:extLst>
          </p:cNvPr>
          <p:cNvSpPr txBox="1"/>
          <p:nvPr/>
        </p:nvSpPr>
        <p:spPr>
          <a:xfrm>
            <a:off x="6878169" y="3429000"/>
            <a:ext cx="3830243" cy="369332"/>
          </a:xfrm>
          <a:prstGeom prst="rect">
            <a:avLst/>
          </a:prstGeom>
          <a:noFill/>
        </p:spPr>
        <p:txBody>
          <a:bodyPr wrap="square" rtlCol="0">
            <a:spAutoFit/>
          </a:bodyPr>
          <a:lstStyle/>
          <a:p>
            <a:r>
              <a:rPr lang="en-US" i="1" dirty="0"/>
              <a:t>X is the matrix of the dataset.</a:t>
            </a:r>
          </a:p>
        </p:txBody>
      </p:sp>
      <p:pic>
        <p:nvPicPr>
          <p:cNvPr id="6" name="Picture 5">
            <a:extLst>
              <a:ext uri="{FF2B5EF4-FFF2-40B4-BE49-F238E27FC236}">
                <a16:creationId xmlns:a16="http://schemas.microsoft.com/office/drawing/2014/main" id="{4C55C756-4E68-202B-B602-0A3903808498}"/>
              </a:ext>
            </a:extLst>
          </p:cNvPr>
          <p:cNvPicPr>
            <a:picLocks noChangeAspect="1"/>
          </p:cNvPicPr>
          <p:nvPr/>
        </p:nvPicPr>
        <p:blipFill>
          <a:blip r:embed="rId3"/>
          <a:stretch>
            <a:fillRect/>
          </a:stretch>
        </p:blipFill>
        <p:spPr>
          <a:xfrm>
            <a:off x="6878169" y="4206175"/>
            <a:ext cx="2934109" cy="2029108"/>
          </a:xfrm>
          <a:prstGeom prst="rect">
            <a:avLst/>
          </a:prstGeom>
        </p:spPr>
      </p:pic>
    </p:spTree>
    <p:extLst>
      <p:ext uri="{BB962C8B-B14F-4D97-AF65-F5344CB8AC3E}">
        <p14:creationId xmlns:p14="http://schemas.microsoft.com/office/powerpoint/2010/main" val="33103767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EFB1C1-1746-318C-34D0-1D0917C682BF}"/>
              </a:ext>
            </a:extLst>
          </p:cNvPr>
          <p:cNvSpPr>
            <a:spLocks noGrp="1"/>
          </p:cNvSpPr>
          <p:nvPr>
            <p:ph type="title"/>
          </p:nvPr>
        </p:nvSpPr>
        <p:spPr/>
        <p:txBody>
          <a:bodyPr/>
          <a:lstStyle/>
          <a:p>
            <a:r>
              <a:rPr lang="en-US" dirty="0"/>
              <a:t>Logistic Regression</a:t>
            </a:r>
          </a:p>
        </p:txBody>
      </p:sp>
      <p:sp>
        <p:nvSpPr>
          <p:cNvPr id="3" name="Content Placeholder 2">
            <a:extLst>
              <a:ext uri="{FF2B5EF4-FFF2-40B4-BE49-F238E27FC236}">
                <a16:creationId xmlns:a16="http://schemas.microsoft.com/office/drawing/2014/main" id="{5CB66CA4-B38E-1CD2-7127-A1BB149562CF}"/>
              </a:ext>
            </a:extLst>
          </p:cNvPr>
          <p:cNvSpPr>
            <a:spLocks noGrp="1"/>
          </p:cNvSpPr>
          <p:nvPr>
            <p:ph idx="1"/>
          </p:nvPr>
        </p:nvSpPr>
        <p:spPr>
          <a:xfrm>
            <a:off x="676656" y="2011680"/>
            <a:ext cx="6759568" cy="3766185"/>
          </a:xfrm>
        </p:spPr>
        <p:txBody>
          <a:bodyPr/>
          <a:lstStyle/>
          <a:p>
            <a:r>
              <a:rPr lang="en-US" dirty="0"/>
              <a:t>Takes the output of a linear regression and inputs it into a sigmoid function to determine which category the datapoint belongs to.</a:t>
            </a:r>
          </a:p>
          <a:p>
            <a:r>
              <a:rPr lang="en-US" dirty="0"/>
              <a:t>If the output of the sigmoid function is beyond a threshold point, then the datapoint will be a positive reading. If the output is below the threshold, there will be a negative reading. </a:t>
            </a:r>
          </a:p>
          <a:p>
            <a:r>
              <a:rPr lang="en-US" dirty="0" err="1"/>
              <a:t>Softmax</a:t>
            </a:r>
            <a:r>
              <a:rPr lang="en-US" dirty="0"/>
              <a:t> Regression is logistic regression, but for 3 or more classes. For the project, we’re performing </a:t>
            </a:r>
            <a:r>
              <a:rPr lang="en-US" dirty="0" err="1"/>
              <a:t>Softmax</a:t>
            </a:r>
            <a:r>
              <a:rPr lang="en-US" dirty="0"/>
              <a:t> regression on only 3 classes. </a:t>
            </a:r>
          </a:p>
        </p:txBody>
      </p:sp>
      <p:pic>
        <p:nvPicPr>
          <p:cNvPr id="4098" name="Picture 2" descr="Why Is Logistic Regression Called “Regression” If It Is A Classification  Algorithm? | by Ashish Mehta | Artificial Intelligence in Plain English">
            <a:extLst>
              <a:ext uri="{FF2B5EF4-FFF2-40B4-BE49-F238E27FC236}">
                <a16:creationId xmlns:a16="http://schemas.microsoft.com/office/drawing/2014/main" id="{EB100551-4FCF-8CB5-8199-75DAF35F5A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9487" y="132544"/>
            <a:ext cx="4429296" cy="239217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a:extLst>
              <a:ext uri="{FF2B5EF4-FFF2-40B4-BE49-F238E27FC236}">
                <a16:creationId xmlns:a16="http://schemas.microsoft.com/office/drawing/2014/main" id="{B97FF9AF-69C9-86D7-A172-A26C1166FE5D}"/>
              </a:ext>
            </a:extLst>
          </p:cNvPr>
          <p:cNvPicPr>
            <a:picLocks noChangeAspect="1"/>
          </p:cNvPicPr>
          <p:nvPr/>
        </p:nvPicPr>
        <p:blipFill>
          <a:blip r:embed="rId3"/>
          <a:stretch>
            <a:fillRect/>
          </a:stretch>
        </p:blipFill>
        <p:spPr>
          <a:xfrm>
            <a:off x="7617941" y="3794847"/>
            <a:ext cx="4673320" cy="1139362"/>
          </a:xfrm>
          <a:prstGeom prst="rect">
            <a:avLst/>
          </a:prstGeom>
        </p:spPr>
      </p:pic>
      <p:pic>
        <p:nvPicPr>
          <p:cNvPr id="4100" name="Picture 4" descr="Everything You Need to Know About Logistic Regression - Spiceworks">
            <a:extLst>
              <a:ext uri="{FF2B5EF4-FFF2-40B4-BE49-F238E27FC236}">
                <a16:creationId xmlns:a16="http://schemas.microsoft.com/office/drawing/2014/main" id="{369E4385-4D30-3997-6BA2-EE2FCB052A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3570" y="2417411"/>
            <a:ext cx="2761129" cy="1158140"/>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F6D92556-D64A-68F9-8432-EC1FFC032F5C}"/>
              </a:ext>
            </a:extLst>
          </p:cNvPr>
          <p:cNvPicPr>
            <a:picLocks noChangeAspect="1"/>
          </p:cNvPicPr>
          <p:nvPr/>
        </p:nvPicPr>
        <p:blipFill>
          <a:blip r:embed="rId5"/>
          <a:stretch>
            <a:fillRect/>
          </a:stretch>
        </p:blipFill>
        <p:spPr>
          <a:xfrm>
            <a:off x="7815356" y="5064631"/>
            <a:ext cx="3953427" cy="1886213"/>
          </a:xfrm>
          <a:prstGeom prst="rect">
            <a:avLst/>
          </a:prstGeom>
        </p:spPr>
      </p:pic>
    </p:spTree>
    <p:extLst>
      <p:ext uri="{BB962C8B-B14F-4D97-AF65-F5344CB8AC3E}">
        <p14:creationId xmlns:p14="http://schemas.microsoft.com/office/powerpoint/2010/main" val="28980070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314CB0-2C78-4E75-955B-1DDFCB9CF3FD}"/>
              </a:ext>
            </a:extLst>
          </p:cNvPr>
          <p:cNvSpPr>
            <a:spLocks noGrp="1"/>
          </p:cNvSpPr>
          <p:nvPr>
            <p:ph type="title"/>
          </p:nvPr>
        </p:nvSpPr>
        <p:spPr>
          <a:xfrm>
            <a:off x="657224" y="499533"/>
            <a:ext cx="10772775" cy="805011"/>
          </a:xfrm>
        </p:spPr>
        <p:txBody>
          <a:bodyPr/>
          <a:lstStyle/>
          <a:p>
            <a:r>
              <a:rPr lang="en-US" dirty="0"/>
              <a:t>Batch Gradient Descent</a:t>
            </a:r>
          </a:p>
        </p:txBody>
      </p:sp>
      <p:pic>
        <p:nvPicPr>
          <p:cNvPr id="5" name="Content Placeholder 4" descr="A grid with a grid and a grid with a grid and a grid with a grid and a grid with a grid and a grid with a grid and a grid with a grid and a grid with&#10;&#10;Description automatically generated">
            <a:extLst>
              <a:ext uri="{FF2B5EF4-FFF2-40B4-BE49-F238E27FC236}">
                <a16:creationId xmlns:a16="http://schemas.microsoft.com/office/drawing/2014/main" id="{66EA7AD3-7F01-EBC2-F85A-F1B7509CFF1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159007" y="139685"/>
            <a:ext cx="3746565" cy="2857018"/>
          </a:xfrm>
        </p:spPr>
      </p:pic>
      <p:sp>
        <p:nvSpPr>
          <p:cNvPr id="6" name="TextBox 5">
            <a:extLst>
              <a:ext uri="{FF2B5EF4-FFF2-40B4-BE49-F238E27FC236}">
                <a16:creationId xmlns:a16="http://schemas.microsoft.com/office/drawing/2014/main" id="{0A74A5F0-185A-D415-5C53-584F2E4AA7FA}"/>
              </a:ext>
            </a:extLst>
          </p:cNvPr>
          <p:cNvSpPr txBox="1"/>
          <p:nvPr/>
        </p:nvSpPr>
        <p:spPr>
          <a:xfrm>
            <a:off x="543698" y="1680519"/>
            <a:ext cx="6132874" cy="4708981"/>
          </a:xfrm>
          <a:prstGeom prst="rect">
            <a:avLst/>
          </a:prstGeom>
          <a:noFill/>
        </p:spPr>
        <p:txBody>
          <a:bodyPr wrap="square" lIns="91440" tIns="45720" rIns="91440" bIns="45720" rtlCol="0" anchor="t">
            <a:spAutoFit/>
          </a:bodyPr>
          <a:lstStyle/>
          <a:p>
            <a:pPr marL="285750" indent="-285750">
              <a:buFontTx/>
              <a:buChar char="-"/>
            </a:pPr>
            <a:r>
              <a:rPr lang="en-US" sz="2000" dirty="0"/>
              <a:t>An iterative process where the parameters are decreased to find the minima of an error function (the lower the error, the better fit the parameters are!)</a:t>
            </a:r>
          </a:p>
          <a:p>
            <a:pPr marL="742950" lvl="1" indent="-285750">
              <a:buFontTx/>
              <a:buChar char="-"/>
            </a:pPr>
            <a:r>
              <a:rPr lang="en-US" sz="2000" dirty="0"/>
              <a:t>Analogy: Think of a marble rolling down a hill into a hole. The marble’s position is decided by the combination of parameters and the holes are the minima. </a:t>
            </a:r>
          </a:p>
          <a:p>
            <a:pPr marL="742950" lvl="1" indent="-285750">
              <a:buFontTx/>
              <a:buChar char="-"/>
            </a:pPr>
            <a:r>
              <a:rPr lang="en-US" sz="2000" dirty="0"/>
              <a:t>Batch gradient descent calculates the descending gradients based on the entire dataset. </a:t>
            </a:r>
          </a:p>
          <a:p>
            <a:pPr marL="285750" indent="-285750">
              <a:buFontTx/>
              <a:buChar char="-"/>
            </a:pPr>
            <a:r>
              <a:rPr lang="en-US" sz="2000" dirty="0"/>
              <a:t>Can be used for BOTH linear regression and logistic regression. For this project, gradient descent is applied to </a:t>
            </a:r>
            <a:r>
              <a:rPr lang="en-US" sz="2000" dirty="0" err="1"/>
              <a:t>softmax</a:t>
            </a:r>
            <a:r>
              <a:rPr lang="en-US" sz="2000" dirty="0"/>
              <a:t> regression</a:t>
            </a:r>
          </a:p>
          <a:p>
            <a:pPr marL="285750" indent="-285750">
              <a:buFontTx/>
              <a:buChar char="-"/>
            </a:pPr>
            <a:r>
              <a:rPr lang="en-US" sz="2000" dirty="0"/>
              <a:t>Returns a 3 x 3 matrix of weights to apply onto our validation set and test set</a:t>
            </a:r>
          </a:p>
          <a:p>
            <a:endParaRPr lang="en-US" sz="2000" dirty="0"/>
          </a:p>
        </p:txBody>
      </p:sp>
      <p:pic>
        <p:nvPicPr>
          <p:cNvPr id="8" name="Picture 7">
            <a:extLst>
              <a:ext uri="{FF2B5EF4-FFF2-40B4-BE49-F238E27FC236}">
                <a16:creationId xmlns:a16="http://schemas.microsoft.com/office/drawing/2014/main" id="{CC8CADCE-74C0-6DB5-53B1-B042E3D9991D}"/>
              </a:ext>
            </a:extLst>
          </p:cNvPr>
          <p:cNvPicPr>
            <a:picLocks noChangeAspect="1"/>
          </p:cNvPicPr>
          <p:nvPr/>
        </p:nvPicPr>
        <p:blipFill>
          <a:blip r:embed="rId3"/>
          <a:stretch>
            <a:fillRect/>
          </a:stretch>
        </p:blipFill>
        <p:spPr>
          <a:xfrm>
            <a:off x="6781045" y="3372678"/>
            <a:ext cx="5410955" cy="3496163"/>
          </a:xfrm>
          <a:prstGeom prst="rect">
            <a:avLst/>
          </a:prstGeom>
        </p:spPr>
      </p:pic>
    </p:spTree>
    <p:extLst>
      <p:ext uri="{BB962C8B-B14F-4D97-AF65-F5344CB8AC3E}">
        <p14:creationId xmlns:p14="http://schemas.microsoft.com/office/powerpoint/2010/main" val="21582086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363E29-2699-46D1-D040-A0F581B19A00}"/>
              </a:ext>
            </a:extLst>
          </p:cNvPr>
          <p:cNvSpPr>
            <a:spLocks noGrp="1"/>
          </p:cNvSpPr>
          <p:nvPr>
            <p:ph type="title"/>
          </p:nvPr>
        </p:nvSpPr>
        <p:spPr/>
        <p:txBody>
          <a:bodyPr/>
          <a:lstStyle/>
          <a:p>
            <a:r>
              <a:rPr lang="en-US" dirty="0"/>
              <a:t>Regularization</a:t>
            </a:r>
          </a:p>
        </p:txBody>
      </p:sp>
      <p:sp>
        <p:nvSpPr>
          <p:cNvPr id="3" name="Content Placeholder 2">
            <a:extLst>
              <a:ext uri="{FF2B5EF4-FFF2-40B4-BE49-F238E27FC236}">
                <a16:creationId xmlns:a16="http://schemas.microsoft.com/office/drawing/2014/main" id="{119F0026-E302-11C6-8A56-E45602631B79}"/>
              </a:ext>
            </a:extLst>
          </p:cNvPr>
          <p:cNvSpPr>
            <a:spLocks noGrp="1"/>
          </p:cNvSpPr>
          <p:nvPr>
            <p:ph idx="1"/>
          </p:nvPr>
        </p:nvSpPr>
        <p:spPr>
          <a:xfrm>
            <a:off x="676657" y="2011680"/>
            <a:ext cx="6701174" cy="3766185"/>
          </a:xfrm>
        </p:spPr>
        <p:txBody>
          <a:bodyPr>
            <a:normAutofit lnSpcReduction="10000"/>
          </a:bodyPr>
          <a:lstStyle/>
          <a:p>
            <a:r>
              <a:rPr lang="en-US" dirty="0"/>
              <a:t>- Prevents “overfitting” a dataset by inflating the error value.</a:t>
            </a:r>
          </a:p>
          <a:p>
            <a:r>
              <a:rPr lang="en-US" dirty="0"/>
              <a:t>-It’s standard to regularize all models to generalize predictions for unseen data.</a:t>
            </a:r>
          </a:p>
          <a:p>
            <a:r>
              <a:rPr lang="en-US" dirty="0"/>
              <a:t>- In this project, we’re using ridge regularization, which inflates the error values based on the sum of the squared weights and the hyperparameter lambda. </a:t>
            </a:r>
          </a:p>
          <a:p>
            <a:r>
              <a:rPr lang="en-US" dirty="0"/>
              <a:t>- The effect of this regularization is that it makes the weights (regression slope) approach 0, which yields a smaller, and simpler prediction</a:t>
            </a:r>
          </a:p>
        </p:txBody>
      </p:sp>
      <p:pic>
        <p:nvPicPr>
          <p:cNvPr id="6146" name="Picture 2" descr="Lasso &amp; Ridge Regression” in 200 Words - Data Science">
            <a:extLst>
              <a:ext uri="{FF2B5EF4-FFF2-40B4-BE49-F238E27FC236}">
                <a16:creationId xmlns:a16="http://schemas.microsoft.com/office/drawing/2014/main" id="{F75E63C5-D74F-257E-4FF1-438709AD27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42812" y="107647"/>
            <a:ext cx="5000625" cy="274320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31CE4709-B858-A872-83ED-FF3E0AEE8B35}"/>
              </a:ext>
            </a:extLst>
          </p:cNvPr>
          <p:cNvSpPr txBox="1"/>
          <p:nvPr/>
        </p:nvSpPr>
        <p:spPr>
          <a:xfrm>
            <a:off x="7530401" y="4056083"/>
            <a:ext cx="4661599" cy="1200329"/>
          </a:xfrm>
          <a:prstGeom prst="rect">
            <a:avLst/>
          </a:prstGeom>
          <a:noFill/>
        </p:spPr>
        <p:txBody>
          <a:bodyPr wrap="square" rtlCol="0">
            <a:spAutoFit/>
          </a:bodyPr>
          <a:lstStyle/>
          <a:p>
            <a:r>
              <a:rPr lang="en-US" i="1" dirty="0"/>
              <a:t>The error function is MSE (or Mean Squared Error), a common error metric for logistic regression</a:t>
            </a:r>
          </a:p>
          <a:p>
            <a:endParaRPr lang="en-US" i="1" dirty="0"/>
          </a:p>
        </p:txBody>
      </p:sp>
      <p:pic>
        <p:nvPicPr>
          <p:cNvPr id="6" name="Picture 5">
            <a:extLst>
              <a:ext uri="{FF2B5EF4-FFF2-40B4-BE49-F238E27FC236}">
                <a16:creationId xmlns:a16="http://schemas.microsoft.com/office/drawing/2014/main" id="{3E29C783-B95C-6C58-DFA4-587BDD26D442}"/>
              </a:ext>
            </a:extLst>
          </p:cNvPr>
          <p:cNvPicPr>
            <a:picLocks noChangeAspect="1"/>
          </p:cNvPicPr>
          <p:nvPr/>
        </p:nvPicPr>
        <p:blipFill>
          <a:blip r:embed="rId3"/>
          <a:stretch>
            <a:fillRect/>
          </a:stretch>
        </p:blipFill>
        <p:spPr>
          <a:xfrm>
            <a:off x="7375318" y="2806825"/>
            <a:ext cx="4349577" cy="1200329"/>
          </a:xfrm>
          <a:prstGeom prst="rect">
            <a:avLst/>
          </a:prstGeom>
        </p:spPr>
      </p:pic>
      <p:pic>
        <p:nvPicPr>
          <p:cNvPr id="10" name="Picture 9">
            <a:extLst>
              <a:ext uri="{FF2B5EF4-FFF2-40B4-BE49-F238E27FC236}">
                <a16:creationId xmlns:a16="http://schemas.microsoft.com/office/drawing/2014/main" id="{6A0D2350-A1E3-41C0-F61C-DEBFD4A6E90E}"/>
              </a:ext>
            </a:extLst>
          </p:cNvPr>
          <p:cNvPicPr>
            <a:picLocks noChangeAspect="1"/>
          </p:cNvPicPr>
          <p:nvPr/>
        </p:nvPicPr>
        <p:blipFill>
          <a:blip r:embed="rId4"/>
          <a:stretch>
            <a:fillRect/>
          </a:stretch>
        </p:blipFill>
        <p:spPr>
          <a:xfrm>
            <a:off x="7283060" y="5359593"/>
            <a:ext cx="4720127" cy="1102055"/>
          </a:xfrm>
          <a:prstGeom prst="rect">
            <a:avLst/>
          </a:prstGeom>
        </p:spPr>
      </p:pic>
    </p:spTree>
    <p:extLst>
      <p:ext uri="{BB962C8B-B14F-4D97-AF65-F5344CB8AC3E}">
        <p14:creationId xmlns:p14="http://schemas.microsoft.com/office/powerpoint/2010/main" val="86869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30E346-D3F0-3AE2-9277-6FB70A7EE324}"/>
              </a:ext>
            </a:extLst>
          </p:cNvPr>
          <p:cNvSpPr>
            <a:spLocks noGrp="1"/>
          </p:cNvSpPr>
          <p:nvPr>
            <p:ph type="title"/>
          </p:nvPr>
        </p:nvSpPr>
        <p:spPr>
          <a:xfrm>
            <a:off x="337910" y="339876"/>
            <a:ext cx="5758090" cy="1097038"/>
          </a:xfrm>
        </p:spPr>
        <p:txBody>
          <a:bodyPr>
            <a:normAutofit fontScale="90000"/>
          </a:bodyPr>
          <a:lstStyle/>
          <a:p>
            <a:r>
              <a:rPr lang="en-US" dirty="0"/>
              <a:t>Results w/ Early Stopping</a:t>
            </a:r>
          </a:p>
        </p:txBody>
      </p:sp>
      <p:pic>
        <p:nvPicPr>
          <p:cNvPr id="5" name="Content Placeholder 4">
            <a:extLst>
              <a:ext uri="{FF2B5EF4-FFF2-40B4-BE49-F238E27FC236}">
                <a16:creationId xmlns:a16="http://schemas.microsoft.com/office/drawing/2014/main" id="{E4A4BFDB-1D97-0855-37E5-2750462BC12A}"/>
              </a:ext>
            </a:extLst>
          </p:cNvPr>
          <p:cNvPicPr>
            <a:picLocks noGrp="1" noChangeAspect="1"/>
          </p:cNvPicPr>
          <p:nvPr>
            <p:ph idx="1"/>
          </p:nvPr>
        </p:nvPicPr>
        <p:blipFill>
          <a:blip r:embed="rId2"/>
          <a:stretch>
            <a:fillRect/>
          </a:stretch>
        </p:blipFill>
        <p:spPr>
          <a:xfrm>
            <a:off x="6609208" y="-3143"/>
            <a:ext cx="5582792" cy="6861143"/>
          </a:xfrm>
        </p:spPr>
      </p:pic>
      <p:sp>
        <p:nvSpPr>
          <p:cNvPr id="6" name="TextBox 5">
            <a:extLst>
              <a:ext uri="{FF2B5EF4-FFF2-40B4-BE49-F238E27FC236}">
                <a16:creationId xmlns:a16="http://schemas.microsoft.com/office/drawing/2014/main" id="{4607D404-A73C-5A79-481C-EC6B2D2BDF24}"/>
              </a:ext>
            </a:extLst>
          </p:cNvPr>
          <p:cNvSpPr txBox="1"/>
          <p:nvPr/>
        </p:nvSpPr>
        <p:spPr>
          <a:xfrm>
            <a:off x="337910" y="2002971"/>
            <a:ext cx="5961290" cy="4247317"/>
          </a:xfrm>
          <a:prstGeom prst="rect">
            <a:avLst/>
          </a:prstGeom>
          <a:noFill/>
        </p:spPr>
        <p:txBody>
          <a:bodyPr wrap="square" rtlCol="0">
            <a:spAutoFit/>
          </a:bodyPr>
          <a:lstStyle/>
          <a:p>
            <a:pPr marL="285750" indent="-285750">
              <a:buFontTx/>
              <a:buChar char="-"/>
            </a:pPr>
            <a:r>
              <a:rPr lang="en-US" dirty="0"/>
              <a:t>Early Stopping: After each iteration, the same weights used for the training set are used for the validation set. The goal is to stop the gradient descent function when the validation error is at its lowest. If the validation error remained low for a while and then starts rising again, stop the descent function, and you’re left with the best weights. </a:t>
            </a:r>
          </a:p>
          <a:p>
            <a:pPr marL="285750" indent="-285750">
              <a:buFontTx/>
              <a:buChar char="-"/>
            </a:pPr>
            <a:endParaRPr lang="en-US" dirty="0"/>
          </a:p>
          <a:p>
            <a:pPr marL="285750" indent="-285750">
              <a:buFontTx/>
              <a:buChar char="-"/>
            </a:pPr>
            <a:r>
              <a:rPr lang="en-US" dirty="0"/>
              <a:t>The orange line is the validation error, while the blue line is the training error. </a:t>
            </a:r>
          </a:p>
          <a:p>
            <a:pPr marL="285750" indent="-285750">
              <a:buFontTx/>
              <a:buChar char="-"/>
            </a:pPr>
            <a:endParaRPr lang="en-US" dirty="0"/>
          </a:p>
          <a:p>
            <a:pPr marL="285750" indent="-285750">
              <a:buFontTx/>
              <a:buChar char="-"/>
            </a:pPr>
            <a:r>
              <a:rPr lang="en-US" dirty="0"/>
              <a:t>Normally, the validation error is supposed to be slightly above the training error. In this instance, it’s below the training error. According to </a:t>
            </a:r>
            <a:r>
              <a:rPr lang="en-US" dirty="0" err="1">
                <a:hlinkClick r:id="rId3"/>
              </a:rPr>
              <a:t>pyimagesearch</a:t>
            </a:r>
            <a:r>
              <a:rPr lang="en-US" dirty="0"/>
              <a:t>, this event may have occurred due to the validation set being easier than the training set.</a:t>
            </a:r>
          </a:p>
        </p:txBody>
      </p:sp>
    </p:spTree>
    <p:extLst>
      <p:ext uri="{BB962C8B-B14F-4D97-AF65-F5344CB8AC3E}">
        <p14:creationId xmlns:p14="http://schemas.microsoft.com/office/powerpoint/2010/main" val="28488485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628B1-B3A8-6D66-499C-7E96B3317DB2}"/>
              </a:ext>
            </a:extLst>
          </p:cNvPr>
          <p:cNvSpPr>
            <a:spLocks noGrp="1"/>
          </p:cNvSpPr>
          <p:nvPr>
            <p:ph type="title"/>
          </p:nvPr>
        </p:nvSpPr>
        <p:spPr>
          <a:xfrm>
            <a:off x="398432" y="355759"/>
            <a:ext cx="10772775" cy="1658198"/>
          </a:xfrm>
        </p:spPr>
        <p:txBody>
          <a:bodyPr/>
          <a:lstStyle/>
          <a:p>
            <a:r>
              <a:rPr lang="en-US" dirty="0"/>
              <a:t>Results w/ Early Stopping (cont.)</a:t>
            </a:r>
          </a:p>
        </p:txBody>
      </p:sp>
      <p:sp>
        <p:nvSpPr>
          <p:cNvPr id="3" name="Content Placeholder 2">
            <a:extLst>
              <a:ext uri="{FF2B5EF4-FFF2-40B4-BE49-F238E27FC236}">
                <a16:creationId xmlns:a16="http://schemas.microsoft.com/office/drawing/2014/main" id="{12D8942B-D0FB-4B6A-3D17-78BE1CA761EA}"/>
              </a:ext>
            </a:extLst>
          </p:cNvPr>
          <p:cNvSpPr>
            <a:spLocks noGrp="1"/>
          </p:cNvSpPr>
          <p:nvPr>
            <p:ph idx="1"/>
          </p:nvPr>
        </p:nvSpPr>
        <p:spPr>
          <a:xfrm>
            <a:off x="676656" y="2011680"/>
            <a:ext cx="5854773" cy="3766185"/>
          </a:xfrm>
        </p:spPr>
        <p:txBody>
          <a:bodyPr vert="horz" lIns="91440" tIns="45720" rIns="91440" bIns="45720" rtlCol="0" anchor="t">
            <a:normAutofit fontScale="92500"/>
          </a:bodyPr>
          <a:lstStyle/>
          <a:p>
            <a:pPr marL="0" indent="0">
              <a:buNone/>
            </a:pPr>
            <a:r>
              <a:rPr lang="en-US" dirty="0"/>
              <a:t>Are the weights we found a proper fit for our testing dataset? </a:t>
            </a:r>
            <a:endParaRPr lang="en-US" dirty="0">
              <a:ea typeface="Calibri Light"/>
              <a:cs typeface="Calibri Light"/>
            </a:endParaRPr>
          </a:p>
          <a:p>
            <a:pPr marL="0" indent="0">
              <a:buNone/>
            </a:pPr>
            <a:r>
              <a:rPr lang="en-US" dirty="0">
                <a:ea typeface="Calibri Light"/>
                <a:cs typeface="Calibri Light"/>
              </a:rPr>
              <a:t>Yes! with the intended 96% accuracy for random seed 43. And</a:t>
            </a:r>
            <a:r>
              <a:rPr lang="en-US" dirty="0"/>
              <a:t> a 86 -100% range accuracy for various other seeds</a:t>
            </a:r>
          </a:p>
          <a:p>
            <a:pPr marL="0" indent="0">
              <a:buNone/>
            </a:pPr>
            <a:r>
              <a:rPr lang="en-US" dirty="0">
                <a:ea typeface="Calibri Light"/>
                <a:cs typeface="Calibri Light"/>
              </a:rPr>
              <a:t>(102, 100%) , (200, 86%) , (9001,96%)</a:t>
            </a:r>
          </a:p>
          <a:p>
            <a:pPr marL="0" indent="0">
              <a:buNone/>
            </a:pPr>
            <a:endParaRPr lang="en-US" dirty="0">
              <a:ea typeface="Calibri Light"/>
              <a:cs typeface="Calibri Light"/>
            </a:endParaRPr>
          </a:p>
          <a:p>
            <a:pPr marL="0" indent="0">
              <a:buNone/>
            </a:pPr>
            <a:r>
              <a:rPr lang="en-US" dirty="0">
                <a:ea typeface="Calibri Light"/>
                <a:cs typeface="Calibri Light"/>
              </a:rPr>
              <a:t>The bottom image is from the </a:t>
            </a:r>
            <a:r>
              <a:rPr lang="en-US" dirty="0" err="1">
                <a:ea typeface="Calibri Light"/>
                <a:cs typeface="Calibri Light"/>
              </a:rPr>
              <a:t>Jupyter</a:t>
            </a:r>
            <a:r>
              <a:rPr lang="en-US" dirty="0">
                <a:ea typeface="Calibri Light"/>
                <a:cs typeface="Calibri Light"/>
              </a:rPr>
              <a:t> notebook with the solution code. As you see, for random seed 43, the model scored 96% accuracy.</a:t>
            </a:r>
          </a:p>
        </p:txBody>
      </p:sp>
      <p:pic>
        <p:nvPicPr>
          <p:cNvPr id="5" name="Picture 4">
            <a:extLst>
              <a:ext uri="{FF2B5EF4-FFF2-40B4-BE49-F238E27FC236}">
                <a16:creationId xmlns:a16="http://schemas.microsoft.com/office/drawing/2014/main" id="{2139783D-CC16-6D38-CF40-984412440E83}"/>
              </a:ext>
            </a:extLst>
          </p:cNvPr>
          <p:cNvPicPr>
            <a:picLocks noChangeAspect="1"/>
          </p:cNvPicPr>
          <p:nvPr/>
        </p:nvPicPr>
        <p:blipFill>
          <a:blip r:embed="rId2"/>
          <a:stretch>
            <a:fillRect/>
          </a:stretch>
        </p:blipFill>
        <p:spPr>
          <a:xfrm>
            <a:off x="6535341" y="4079528"/>
            <a:ext cx="5495417" cy="2278939"/>
          </a:xfrm>
          <a:prstGeom prst="rect">
            <a:avLst/>
          </a:prstGeom>
        </p:spPr>
      </p:pic>
      <p:pic>
        <p:nvPicPr>
          <p:cNvPr id="8" name="Picture 7" descr="A screen shot of a computer program&#10;&#10;AI-generated content may be incorrect.">
            <a:extLst>
              <a:ext uri="{FF2B5EF4-FFF2-40B4-BE49-F238E27FC236}">
                <a16:creationId xmlns:a16="http://schemas.microsoft.com/office/drawing/2014/main" id="{EDC0205B-F219-8079-2F1D-B03F2966CEFD}"/>
              </a:ext>
            </a:extLst>
          </p:cNvPr>
          <p:cNvPicPr>
            <a:picLocks noChangeAspect="1"/>
          </p:cNvPicPr>
          <p:nvPr/>
        </p:nvPicPr>
        <p:blipFill>
          <a:blip r:embed="rId3"/>
          <a:stretch>
            <a:fillRect/>
          </a:stretch>
        </p:blipFill>
        <p:spPr>
          <a:xfrm>
            <a:off x="6512853" y="1516811"/>
            <a:ext cx="4917237" cy="2544793"/>
          </a:xfrm>
          <a:prstGeom prst="rect">
            <a:avLst/>
          </a:prstGeom>
        </p:spPr>
      </p:pic>
    </p:spTree>
    <p:extLst>
      <p:ext uri="{BB962C8B-B14F-4D97-AF65-F5344CB8AC3E}">
        <p14:creationId xmlns:p14="http://schemas.microsoft.com/office/powerpoint/2010/main" val="40171850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73718A-0346-1851-77A0-6C81C711D38E}"/>
              </a:ext>
            </a:extLst>
          </p:cNvPr>
          <p:cNvSpPr>
            <a:spLocks noGrp="1"/>
          </p:cNvSpPr>
          <p:nvPr>
            <p:ph type="title"/>
          </p:nvPr>
        </p:nvSpPr>
        <p:spPr>
          <a:xfrm>
            <a:off x="668430" y="28886"/>
            <a:ext cx="10772775" cy="1658198"/>
          </a:xfrm>
        </p:spPr>
        <p:txBody>
          <a:bodyPr/>
          <a:lstStyle/>
          <a:p>
            <a:r>
              <a:rPr lang="en-US">
                <a:ea typeface="Calibri Light"/>
                <a:cs typeface="Calibri Light"/>
              </a:rPr>
              <a:t>How Normal Equations Work </a:t>
            </a:r>
            <a:endParaRPr lang="en-US"/>
          </a:p>
        </p:txBody>
      </p:sp>
      <p:sp>
        <p:nvSpPr>
          <p:cNvPr id="3" name="Content Placeholder 2">
            <a:extLst>
              <a:ext uri="{FF2B5EF4-FFF2-40B4-BE49-F238E27FC236}">
                <a16:creationId xmlns:a16="http://schemas.microsoft.com/office/drawing/2014/main" id="{38F107BA-C101-A8D1-E15C-63CA97439B61}"/>
              </a:ext>
            </a:extLst>
          </p:cNvPr>
          <p:cNvSpPr>
            <a:spLocks noGrp="1"/>
          </p:cNvSpPr>
          <p:nvPr>
            <p:ph idx="1"/>
          </p:nvPr>
        </p:nvSpPr>
        <p:spPr/>
        <p:txBody>
          <a:bodyPr vert="horz" lIns="91440" tIns="45720" rIns="91440" bIns="45720" rtlCol="0" anchor="t">
            <a:normAutofit/>
          </a:bodyPr>
          <a:lstStyle/>
          <a:p>
            <a:endParaRPr lang="en-US"/>
          </a:p>
          <a:p>
            <a:endParaRPr lang="en-US" dirty="0">
              <a:ea typeface="Calibri Light"/>
              <a:cs typeface="Calibri Light"/>
            </a:endParaRPr>
          </a:p>
          <a:p>
            <a:endParaRPr lang="en-US" dirty="0">
              <a:ea typeface="Calibri Light"/>
              <a:cs typeface="Calibri Light"/>
            </a:endParaRPr>
          </a:p>
          <a:p>
            <a:endParaRPr lang="en-US" dirty="0">
              <a:ea typeface="Calibri Light"/>
              <a:cs typeface="Calibri Light"/>
            </a:endParaRPr>
          </a:p>
          <a:p>
            <a:endParaRPr lang="en-US" dirty="0">
              <a:ea typeface="Calibri Light"/>
              <a:cs typeface="Calibri Light"/>
            </a:endParaRPr>
          </a:p>
        </p:txBody>
      </p:sp>
      <p:pic>
        <p:nvPicPr>
          <p:cNvPr id="5" name="Picture 4" descr="A black background with white text&#10;&#10;AI-generated content may be incorrect.">
            <a:extLst>
              <a:ext uri="{FF2B5EF4-FFF2-40B4-BE49-F238E27FC236}">
                <a16:creationId xmlns:a16="http://schemas.microsoft.com/office/drawing/2014/main" id="{D147EA83-9C4F-A636-A581-CCAD7212971C}"/>
              </a:ext>
            </a:extLst>
          </p:cNvPr>
          <p:cNvPicPr>
            <a:picLocks noChangeAspect="1"/>
          </p:cNvPicPr>
          <p:nvPr/>
        </p:nvPicPr>
        <p:blipFill>
          <a:blip r:embed="rId2"/>
          <a:stretch>
            <a:fillRect/>
          </a:stretch>
        </p:blipFill>
        <p:spPr>
          <a:xfrm>
            <a:off x="7259172" y="1732989"/>
            <a:ext cx="2895600" cy="971550"/>
          </a:xfrm>
          <a:prstGeom prst="rect">
            <a:avLst/>
          </a:prstGeom>
        </p:spPr>
      </p:pic>
      <p:pic>
        <p:nvPicPr>
          <p:cNvPr id="6" name="Picture 5">
            <a:extLst>
              <a:ext uri="{FF2B5EF4-FFF2-40B4-BE49-F238E27FC236}">
                <a16:creationId xmlns:a16="http://schemas.microsoft.com/office/drawing/2014/main" id="{DA83A281-D889-D0E1-F801-CE025D7D3754}"/>
              </a:ext>
            </a:extLst>
          </p:cNvPr>
          <p:cNvPicPr>
            <a:picLocks noChangeAspect="1"/>
          </p:cNvPicPr>
          <p:nvPr/>
        </p:nvPicPr>
        <p:blipFill>
          <a:blip r:embed="rId3"/>
          <a:stretch>
            <a:fillRect/>
          </a:stretch>
        </p:blipFill>
        <p:spPr>
          <a:xfrm>
            <a:off x="1169054" y="2152650"/>
            <a:ext cx="3533775" cy="2552700"/>
          </a:xfrm>
          <a:prstGeom prst="rect">
            <a:avLst/>
          </a:prstGeom>
        </p:spPr>
      </p:pic>
      <p:sp>
        <p:nvSpPr>
          <p:cNvPr id="7" name="TextBox 6">
            <a:extLst>
              <a:ext uri="{FF2B5EF4-FFF2-40B4-BE49-F238E27FC236}">
                <a16:creationId xmlns:a16="http://schemas.microsoft.com/office/drawing/2014/main" id="{B51A24E0-8B67-AD2F-B7BD-BADCD7DEDB6F}"/>
              </a:ext>
            </a:extLst>
          </p:cNvPr>
          <p:cNvSpPr txBox="1"/>
          <p:nvPr/>
        </p:nvSpPr>
        <p:spPr>
          <a:xfrm>
            <a:off x="1021290" y="5332677"/>
            <a:ext cx="3684926"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dirty="0">
                <a:ea typeface="Calibri Light" panose="020F0302020204030204"/>
                <a:cs typeface="Calibri Light" panose="020F0302020204030204"/>
              </a:rPr>
              <a:t>Takes more time</a:t>
            </a:r>
            <a:endParaRPr lang="en-US" dirty="0"/>
          </a:p>
          <a:p>
            <a:pPr marL="285750" indent="-285750">
              <a:buFont typeface="Calibri"/>
              <a:buChar char="-"/>
            </a:pPr>
            <a:r>
              <a:rPr lang="en-US" dirty="0">
                <a:ea typeface="Calibri Light" panose="020F0302020204030204"/>
                <a:cs typeface="Calibri Light" panose="020F0302020204030204"/>
              </a:rPr>
              <a:t>Requires less memory</a:t>
            </a:r>
          </a:p>
        </p:txBody>
      </p:sp>
      <p:cxnSp>
        <p:nvCxnSpPr>
          <p:cNvPr id="8" name="Straight Arrow Connector 7">
            <a:extLst>
              <a:ext uri="{FF2B5EF4-FFF2-40B4-BE49-F238E27FC236}">
                <a16:creationId xmlns:a16="http://schemas.microsoft.com/office/drawing/2014/main" id="{707804BC-8747-D098-0ACE-2A63C8CE2AFF}"/>
              </a:ext>
            </a:extLst>
          </p:cNvPr>
          <p:cNvCxnSpPr/>
          <p:nvPr/>
        </p:nvCxnSpPr>
        <p:spPr>
          <a:xfrm flipH="1">
            <a:off x="5982065" y="2013085"/>
            <a:ext cx="5069" cy="4398346"/>
          </a:xfrm>
          <a:prstGeom prst="straightConnector1">
            <a:avLst/>
          </a:prstGeom>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89EE190-EB72-D95B-69C1-07DC1515212B}"/>
              </a:ext>
            </a:extLst>
          </p:cNvPr>
          <p:cNvSpPr txBox="1"/>
          <p:nvPr/>
        </p:nvSpPr>
        <p:spPr>
          <a:xfrm>
            <a:off x="1324917" y="1683749"/>
            <a:ext cx="3146678"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u="sng" dirty="0">
                <a:ea typeface="Calibri Light"/>
                <a:cs typeface="Calibri Light"/>
              </a:rPr>
              <a:t>Iterative</a:t>
            </a:r>
            <a:endParaRPr lang="en-US" u="sng">
              <a:ea typeface="Calibri Light"/>
              <a:cs typeface="Calibri Light"/>
            </a:endParaRPr>
          </a:p>
        </p:txBody>
      </p:sp>
      <p:sp>
        <p:nvSpPr>
          <p:cNvPr id="10" name="TextBox 9">
            <a:extLst>
              <a:ext uri="{FF2B5EF4-FFF2-40B4-BE49-F238E27FC236}">
                <a16:creationId xmlns:a16="http://schemas.microsoft.com/office/drawing/2014/main" id="{27A30C39-1301-C842-60BF-6DF759F8F533}"/>
              </a:ext>
            </a:extLst>
          </p:cNvPr>
          <p:cNvSpPr txBox="1"/>
          <p:nvPr/>
        </p:nvSpPr>
        <p:spPr>
          <a:xfrm>
            <a:off x="7335371" y="1194547"/>
            <a:ext cx="2743200" cy="5232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800" b="1" u="sng" dirty="0"/>
              <a:t>Closed-Form</a:t>
            </a:r>
            <a:endParaRPr lang="en-US" dirty="0">
              <a:ea typeface="Calibri Light" panose="020F0302020204030204"/>
              <a:cs typeface="Calibri Light" panose="020F0302020204030204"/>
            </a:endParaRPr>
          </a:p>
        </p:txBody>
      </p:sp>
      <p:sp>
        <p:nvSpPr>
          <p:cNvPr id="11" name="TextBox 10">
            <a:extLst>
              <a:ext uri="{FF2B5EF4-FFF2-40B4-BE49-F238E27FC236}">
                <a16:creationId xmlns:a16="http://schemas.microsoft.com/office/drawing/2014/main" id="{08AB2FC8-EB2D-9C7A-4B39-7B061BF4F9FC}"/>
              </a:ext>
            </a:extLst>
          </p:cNvPr>
          <p:cNvSpPr txBox="1"/>
          <p:nvPr/>
        </p:nvSpPr>
        <p:spPr>
          <a:xfrm>
            <a:off x="6199007" y="3737779"/>
            <a:ext cx="5830439"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Calibri"/>
              <a:buChar char="-"/>
            </a:pPr>
            <a:r>
              <a:rPr lang="en-US" dirty="0">
                <a:ea typeface="Calibri Light" panose="020F0302020204030204"/>
                <a:cs typeface="Calibri Light" panose="020F0302020204030204"/>
              </a:rPr>
              <a:t>Takes way less time</a:t>
            </a:r>
          </a:p>
          <a:p>
            <a:pPr marL="285750" indent="-285750">
              <a:buFont typeface="Calibri"/>
              <a:buChar char="-"/>
            </a:pPr>
            <a:r>
              <a:rPr lang="en-US" dirty="0">
                <a:ea typeface="Calibri Light" panose="020F0302020204030204"/>
                <a:cs typeface="Calibri Light" panose="020F0302020204030204"/>
              </a:rPr>
              <a:t>Requires more memory to fit entire training set</a:t>
            </a:r>
          </a:p>
          <a:p>
            <a:pPr marL="285750" indent="-285750">
              <a:buFont typeface="Calibri"/>
              <a:buChar char="-"/>
            </a:pPr>
            <a:r>
              <a:rPr lang="en-US" dirty="0">
                <a:ea typeface="Calibri Light" panose="020F0302020204030204"/>
                <a:cs typeface="Calibri Light" panose="020F0302020204030204"/>
              </a:rPr>
              <a:t>Uses matrix multiplication</a:t>
            </a:r>
          </a:p>
          <a:p>
            <a:pPr marL="285750" indent="-285750">
              <a:buFont typeface="Calibri"/>
              <a:buChar char="-"/>
            </a:pPr>
            <a:endParaRPr lang="en-US" dirty="0">
              <a:ea typeface="Calibri Light" panose="020F0302020204030204"/>
              <a:cs typeface="Calibri Light" panose="020F0302020204030204"/>
            </a:endParaRPr>
          </a:p>
          <a:p>
            <a:r>
              <a:rPr lang="en-US" dirty="0">
                <a:ea typeface="Calibri Light" panose="020F0302020204030204"/>
                <a:cs typeface="Calibri Light" panose="020F0302020204030204"/>
              </a:rPr>
              <a:t>My questions: </a:t>
            </a:r>
          </a:p>
          <a:p>
            <a:pPr marL="285750" indent="-285750">
              <a:buFont typeface="Calibri"/>
              <a:buChar char="-"/>
            </a:pPr>
            <a:r>
              <a:rPr lang="en-US" dirty="0">
                <a:ea typeface="Calibri Light" panose="020F0302020204030204"/>
                <a:cs typeface="Calibri Light" panose="020F0302020204030204"/>
              </a:rPr>
              <a:t>How can a simple linear algebra equation find the optimal parameters in less time than an iterative solution?</a:t>
            </a:r>
            <a:endParaRPr lang="en-US">
              <a:ea typeface="Calibri Light" panose="020F0302020204030204"/>
              <a:cs typeface="Calibri Light" panose="020F0302020204030204"/>
            </a:endParaRPr>
          </a:p>
          <a:p>
            <a:pPr marL="285750" indent="-285750">
              <a:buFont typeface="Calibri"/>
              <a:buChar char="-"/>
            </a:pPr>
            <a:endParaRPr lang="en-US" dirty="0">
              <a:ea typeface="Calibri Light" panose="020F0302020204030204"/>
              <a:cs typeface="Calibri Light" panose="020F0302020204030204"/>
            </a:endParaRPr>
          </a:p>
          <a:p>
            <a:pPr marL="285750" indent="-285750">
              <a:buFont typeface="Calibri"/>
              <a:buChar char="-"/>
            </a:pPr>
            <a:r>
              <a:rPr lang="en-US" dirty="0">
                <a:ea typeface="Calibri Light" panose="020F0302020204030204"/>
                <a:cs typeface="Calibri Light" panose="020F0302020204030204"/>
              </a:rPr>
              <a:t>How is the equation derived?</a:t>
            </a:r>
          </a:p>
          <a:p>
            <a:endParaRPr lang="en-US" dirty="0">
              <a:ea typeface="Calibri Light" panose="020F0302020204030204"/>
              <a:cs typeface="Calibri Light" panose="020F0302020204030204"/>
            </a:endParaRPr>
          </a:p>
          <a:p>
            <a:endParaRPr lang="en-US" dirty="0">
              <a:ea typeface="Calibri Light" panose="020F0302020204030204"/>
              <a:cs typeface="Calibri Light" panose="020F0302020204030204"/>
            </a:endParaRPr>
          </a:p>
          <a:p>
            <a:endParaRPr lang="en-US" dirty="0">
              <a:ea typeface="Calibri Light" panose="020F0302020204030204"/>
              <a:cs typeface="Calibri Light" panose="020F0302020204030204"/>
            </a:endParaRPr>
          </a:p>
        </p:txBody>
      </p:sp>
      <p:sp>
        <p:nvSpPr>
          <p:cNvPr id="12" name="TextBox 11">
            <a:extLst>
              <a:ext uri="{FF2B5EF4-FFF2-40B4-BE49-F238E27FC236}">
                <a16:creationId xmlns:a16="http://schemas.microsoft.com/office/drawing/2014/main" id="{B1CCCB77-55B0-BB8F-008B-39293312D428}"/>
              </a:ext>
            </a:extLst>
          </p:cNvPr>
          <p:cNvSpPr txBox="1"/>
          <p:nvPr/>
        </p:nvSpPr>
        <p:spPr>
          <a:xfrm>
            <a:off x="7256847" y="2700214"/>
            <a:ext cx="3050069"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Light"/>
                <a:cs typeface="Calibri Light"/>
              </a:rPr>
              <a:t>B (vector) = parameters</a:t>
            </a:r>
          </a:p>
          <a:p>
            <a:r>
              <a:rPr lang="en-US" dirty="0">
                <a:ea typeface="Calibri Light"/>
                <a:cs typeface="Calibri Light"/>
              </a:rPr>
              <a:t>X = training set</a:t>
            </a:r>
          </a:p>
          <a:p>
            <a:r>
              <a:rPr lang="en-US" dirty="0">
                <a:ea typeface="Calibri Light"/>
                <a:cs typeface="Calibri Light"/>
              </a:rPr>
              <a:t>X^T = transpose of dataset</a:t>
            </a:r>
          </a:p>
        </p:txBody>
      </p:sp>
    </p:spTree>
    <p:extLst>
      <p:ext uri="{BB962C8B-B14F-4D97-AF65-F5344CB8AC3E}">
        <p14:creationId xmlns:p14="http://schemas.microsoft.com/office/powerpoint/2010/main" val="18362670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A7520-A303-FA69-1C7B-95F1D9E2782E}"/>
              </a:ext>
            </a:extLst>
          </p:cNvPr>
          <p:cNvSpPr>
            <a:spLocks noGrp="1"/>
          </p:cNvSpPr>
          <p:nvPr>
            <p:ph type="title"/>
          </p:nvPr>
        </p:nvSpPr>
        <p:spPr>
          <a:xfrm>
            <a:off x="511548" y="-251261"/>
            <a:ext cx="10772775" cy="1658198"/>
          </a:xfrm>
        </p:spPr>
        <p:txBody>
          <a:bodyPr/>
          <a:lstStyle/>
          <a:p>
            <a:r>
              <a:rPr lang="en-US" dirty="0">
                <a:ea typeface="Calibri Light"/>
                <a:cs typeface="Calibri Light"/>
              </a:rPr>
              <a:t>How Normal Equations Work (cont.)</a:t>
            </a:r>
            <a:endParaRPr lang="en-US" dirty="0">
              <a:solidFill>
                <a:srgbClr val="000000"/>
              </a:solidFill>
              <a:ea typeface="Calibri Light"/>
              <a:cs typeface="Calibri Light"/>
            </a:endParaRPr>
          </a:p>
        </p:txBody>
      </p:sp>
      <p:pic>
        <p:nvPicPr>
          <p:cNvPr id="7" name="Picture 6" descr="A black background with text and colorful lines&#10;&#10;AI-generated content may be incorrect.">
            <a:extLst>
              <a:ext uri="{FF2B5EF4-FFF2-40B4-BE49-F238E27FC236}">
                <a16:creationId xmlns:a16="http://schemas.microsoft.com/office/drawing/2014/main" id="{9CFE02DF-6202-E669-DC43-1ACCF608774B}"/>
              </a:ext>
            </a:extLst>
          </p:cNvPr>
          <p:cNvPicPr>
            <a:picLocks noChangeAspect="1"/>
          </p:cNvPicPr>
          <p:nvPr/>
        </p:nvPicPr>
        <p:blipFill>
          <a:blip r:embed="rId2"/>
          <a:srcRect l="71655" t="4242" r="2773" b="49815"/>
          <a:stretch>
            <a:fillRect/>
          </a:stretch>
        </p:blipFill>
        <p:spPr>
          <a:xfrm>
            <a:off x="8609676" y="1357311"/>
            <a:ext cx="3381396" cy="1702811"/>
          </a:xfrm>
          <a:prstGeom prst="rect">
            <a:avLst/>
          </a:prstGeom>
        </p:spPr>
      </p:pic>
      <p:pic>
        <p:nvPicPr>
          <p:cNvPr id="8" name="Picture 7" descr="A black background with text and colorful lines&#10;&#10;AI-generated content may be incorrect.">
            <a:extLst>
              <a:ext uri="{FF2B5EF4-FFF2-40B4-BE49-F238E27FC236}">
                <a16:creationId xmlns:a16="http://schemas.microsoft.com/office/drawing/2014/main" id="{10DB6630-E90F-DA17-BE34-7D630B077021}"/>
              </a:ext>
            </a:extLst>
          </p:cNvPr>
          <p:cNvPicPr>
            <a:picLocks noChangeAspect="1"/>
          </p:cNvPicPr>
          <p:nvPr/>
        </p:nvPicPr>
        <p:blipFill>
          <a:blip r:embed="rId2"/>
          <a:srcRect l="38625" t="4351" r="32997" b="44205"/>
          <a:stretch>
            <a:fillRect/>
          </a:stretch>
        </p:blipFill>
        <p:spPr>
          <a:xfrm>
            <a:off x="4773706" y="1326301"/>
            <a:ext cx="3381009" cy="1906723"/>
          </a:xfrm>
          <a:prstGeom prst="rect">
            <a:avLst/>
          </a:prstGeom>
        </p:spPr>
      </p:pic>
      <p:pic>
        <p:nvPicPr>
          <p:cNvPr id="9" name="Picture 8" descr="A black background with text and colorful lines&#10;&#10;AI-generated content may be incorrect.">
            <a:extLst>
              <a:ext uri="{FF2B5EF4-FFF2-40B4-BE49-F238E27FC236}">
                <a16:creationId xmlns:a16="http://schemas.microsoft.com/office/drawing/2014/main" id="{43B201C4-CF80-E194-6AAD-2CA44B3CBF29}"/>
              </a:ext>
            </a:extLst>
          </p:cNvPr>
          <p:cNvPicPr>
            <a:picLocks noChangeAspect="1"/>
          </p:cNvPicPr>
          <p:nvPr/>
        </p:nvPicPr>
        <p:blipFill>
          <a:blip r:embed="rId2"/>
          <a:srcRect l="2705" t="111" r="65869" b="44242"/>
          <a:stretch>
            <a:fillRect/>
          </a:stretch>
        </p:blipFill>
        <p:spPr>
          <a:xfrm>
            <a:off x="515469" y="1170931"/>
            <a:ext cx="3384188" cy="2062443"/>
          </a:xfrm>
          <a:prstGeom prst="rect">
            <a:avLst/>
          </a:prstGeom>
        </p:spPr>
      </p:pic>
      <p:sp>
        <p:nvSpPr>
          <p:cNvPr id="4" name="Content Placeholder 3">
            <a:extLst>
              <a:ext uri="{FF2B5EF4-FFF2-40B4-BE49-F238E27FC236}">
                <a16:creationId xmlns:a16="http://schemas.microsoft.com/office/drawing/2014/main" id="{AF40E543-B239-870D-9815-065C665F11A6}"/>
              </a:ext>
            </a:extLst>
          </p:cNvPr>
          <p:cNvSpPr>
            <a:spLocks noGrp="1"/>
          </p:cNvSpPr>
          <p:nvPr>
            <p:ph idx="1"/>
          </p:nvPr>
        </p:nvSpPr>
        <p:spPr>
          <a:xfrm>
            <a:off x="508568" y="3255534"/>
            <a:ext cx="3738843" cy="1816360"/>
          </a:xfrm>
        </p:spPr>
        <p:txBody>
          <a:bodyPr vert="horz" lIns="91440" tIns="45720" rIns="91440" bIns="45720" rtlCol="0" anchor="t">
            <a:normAutofit fontScale="85000" lnSpcReduction="20000"/>
          </a:bodyPr>
          <a:lstStyle/>
          <a:p>
            <a:pPr marL="0" indent="0">
              <a:buNone/>
            </a:pPr>
            <a:r>
              <a:rPr lang="en-US" dirty="0">
                <a:ea typeface="Calibri Light"/>
                <a:cs typeface="Calibri Light"/>
              </a:rPr>
              <a:t>Key point: Don't think about transformation as transforming vectors, but the SPACE these vectors occupy (which is expressed through unit vectors)</a:t>
            </a:r>
          </a:p>
          <a:p>
            <a:pPr marL="0" indent="0">
              <a:buNone/>
            </a:pPr>
            <a:r>
              <a:rPr lang="en-US" dirty="0">
                <a:ea typeface="Calibri Light"/>
                <a:cs typeface="Calibri Light"/>
              </a:rPr>
              <a:t>Red = </a:t>
            </a:r>
            <a:r>
              <a:rPr lang="en-US" dirty="0" err="1">
                <a:ea typeface="Calibri Light"/>
                <a:cs typeface="Calibri Light"/>
              </a:rPr>
              <a:t>i</a:t>
            </a:r>
            <a:r>
              <a:rPr lang="en-US" dirty="0">
                <a:ea typeface="Calibri Light"/>
                <a:cs typeface="Calibri Light"/>
              </a:rPr>
              <a:t> unit vector , Green = j unit vector</a:t>
            </a:r>
          </a:p>
          <a:p>
            <a:pPr marL="0" indent="0">
              <a:buNone/>
            </a:pPr>
            <a:endParaRPr lang="en-US" dirty="0">
              <a:ea typeface="Calibri Light"/>
              <a:cs typeface="Calibri Light"/>
            </a:endParaRPr>
          </a:p>
        </p:txBody>
      </p:sp>
      <p:sp>
        <p:nvSpPr>
          <p:cNvPr id="5" name="TextBox 4">
            <a:extLst>
              <a:ext uri="{FF2B5EF4-FFF2-40B4-BE49-F238E27FC236}">
                <a16:creationId xmlns:a16="http://schemas.microsoft.com/office/drawing/2014/main" id="{4189D606-9CF6-51C3-1428-5D250F38A212}"/>
              </a:ext>
            </a:extLst>
          </p:cNvPr>
          <p:cNvSpPr txBox="1"/>
          <p:nvPr/>
        </p:nvSpPr>
        <p:spPr>
          <a:xfrm>
            <a:off x="4819221" y="3425420"/>
            <a:ext cx="328469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Light"/>
                <a:cs typeface="Calibri Light"/>
              </a:rPr>
              <a:t>Think of a 3D vector as a 3x3 matrix with each column corresponding to a vector</a:t>
            </a:r>
            <a:endParaRPr lang="en-US" dirty="0"/>
          </a:p>
        </p:txBody>
      </p:sp>
      <p:pic>
        <p:nvPicPr>
          <p:cNvPr id="6" name="Picture 5">
            <a:extLst>
              <a:ext uri="{FF2B5EF4-FFF2-40B4-BE49-F238E27FC236}">
                <a16:creationId xmlns:a16="http://schemas.microsoft.com/office/drawing/2014/main" id="{B83251B7-5589-E624-AEE0-A62DDBE60D4D}"/>
              </a:ext>
            </a:extLst>
          </p:cNvPr>
          <p:cNvPicPr>
            <a:picLocks noChangeAspect="1"/>
          </p:cNvPicPr>
          <p:nvPr/>
        </p:nvPicPr>
        <p:blipFill>
          <a:blip r:embed="rId3"/>
          <a:stretch>
            <a:fillRect/>
          </a:stretch>
        </p:blipFill>
        <p:spPr>
          <a:xfrm>
            <a:off x="5055253" y="4668090"/>
            <a:ext cx="2809877" cy="2071409"/>
          </a:xfrm>
          <a:prstGeom prst="rect">
            <a:avLst/>
          </a:prstGeom>
        </p:spPr>
      </p:pic>
      <p:pic>
        <p:nvPicPr>
          <p:cNvPr id="10" name="Picture 9" descr="A graph with numbers and lines&#10;&#10;AI-generated content may be incorrect.">
            <a:extLst>
              <a:ext uri="{FF2B5EF4-FFF2-40B4-BE49-F238E27FC236}">
                <a16:creationId xmlns:a16="http://schemas.microsoft.com/office/drawing/2014/main" id="{C99CC87B-A727-ABEA-6C5F-40C059E53810}"/>
              </a:ext>
            </a:extLst>
          </p:cNvPr>
          <p:cNvPicPr>
            <a:picLocks noChangeAspect="1"/>
          </p:cNvPicPr>
          <p:nvPr/>
        </p:nvPicPr>
        <p:blipFill>
          <a:blip r:embed="rId4"/>
          <a:stretch>
            <a:fillRect/>
          </a:stretch>
        </p:blipFill>
        <p:spPr>
          <a:xfrm>
            <a:off x="1018615" y="5028920"/>
            <a:ext cx="2377889" cy="1831601"/>
          </a:xfrm>
          <a:prstGeom prst="rect">
            <a:avLst/>
          </a:prstGeom>
        </p:spPr>
      </p:pic>
      <p:pic>
        <p:nvPicPr>
          <p:cNvPr id="12" name="Picture 11">
            <a:extLst>
              <a:ext uri="{FF2B5EF4-FFF2-40B4-BE49-F238E27FC236}">
                <a16:creationId xmlns:a16="http://schemas.microsoft.com/office/drawing/2014/main" id="{652E75AA-BC69-5CD5-CAB4-0399839EED76}"/>
              </a:ext>
            </a:extLst>
          </p:cNvPr>
          <p:cNvPicPr>
            <a:picLocks noChangeAspect="1"/>
          </p:cNvPicPr>
          <p:nvPr/>
        </p:nvPicPr>
        <p:blipFill>
          <a:blip r:embed="rId5"/>
          <a:stretch>
            <a:fillRect/>
          </a:stretch>
        </p:blipFill>
        <p:spPr>
          <a:xfrm>
            <a:off x="8426823" y="4912656"/>
            <a:ext cx="3765178" cy="1638307"/>
          </a:xfrm>
          <a:prstGeom prst="rect">
            <a:avLst/>
          </a:prstGeom>
        </p:spPr>
      </p:pic>
      <p:sp>
        <p:nvSpPr>
          <p:cNvPr id="13" name="TextBox 12">
            <a:extLst>
              <a:ext uri="{FF2B5EF4-FFF2-40B4-BE49-F238E27FC236}">
                <a16:creationId xmlns:a16="http://schemas.microsoft.com/office/drawing/2014/main" id="{33EBEEA4-D4B7-976E-537D-F79A55283EC1}"/>
              </a:ext>
            </a:extLst>
          </p:cNvPr>
          <p:cNvSpPr txBox="1"/>
          <p:nvPr/>
        </p:nvSpPr>
        <p:spPr>
          <a:xfrm>
            <a:off x="8653365" y="3339896"/>
            <a:ext cx="3243287"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Light"/>
                <a:cs typeface="Calibri Light"/>
              </a:rPr>
              <a:t>A 3D matrix (3x3) can undergo a transformation that will flatten the vectors onto the 2D (3x2) plane.</a:t>
            </a:r>
            <a:endParaRPr lang="en-US" dirty="0"/>
          </a:p>
        </p:txBody>
      </p:sp>
    </p:spTree>
    <p:extLst>
      <p:ext uri="{BB962C8B-B14F-4D97-AF65-F5344CB8AC3E}">
        <p14:creationId xmlns:p14="http://schemas.microsoft.com/office/powerpoint/2010/main" val="323257772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F0339-389E-C737-B164-A07A7273A56B}"/>
              </a:ext>
            </a:extLst>
          </p:cNvPr>
          <p:cNvSpPr>
            <a:spLocks noGrp="1"/>
          </p:cNvSpPr>
          <p:nvPr>
            <p:ph type="title"/>
          </p:nvPr>
        </p:nvSpPr>
        <p:spPr>
          <a:xfrm>
            <a:off x="713253" y="-4732"/>
            <a:ext cx="10772775" cy="1658198"/>
          </a:xfrm>
        </p:spPr>
        <p:txBody>
          <a:bodyPr/>
          <a:lstStyle/>
          <a:p>
            <a:r>
              <a:rPr lang="en-US" dirty="0">
                <a:ea typeface="Calibri Light"/>
                <a:cs typeface="Calibri Light"/>
              </a:rPr>
              <a:t>How Normal Equations Work (cont.)</a:t>
            </a:r>
            <a:endParaRPr lang="en-US" dirty="0"/>
          </a:p>
        </p:txBody>
      </p:sp>
      <p:pic>
        <p:nvPicPr>
          <p:cNvPr id="4" name="Content Placeholder 3" descr="A graph of a mathematical equation&#10;&#10;AI-generated content may be incorrect.">
            <a:extLst>
              <a:ext uri="{FF2B5EF4-FFF2-40B4-BE49-F238E27FC236}">
                <a16:creationId xmlns:a16="http://schemas.microsoft.com/office/drawing/2014/main" id="{5F041B25-146A-DF2B-0CA2-2E931E12096F}"/>
              </a:ext>
            </a:extLst>
          </p:cNvPr>
          <p:cNvPicPr>
            <a:picLocks noGrp="1" noChangeAspect="1"/>
          </p:cNvPicPr>
          <p:nvPr>
            <p:ph idx="1"/>
          </p:nvPr>
        </p:nvPicPr>
        <p:blipFill>
          <a:blip r:embed="rId2"/>
          <a:stretch>
            <a:fillRect/>
          </a:stretch>
        </p:blipFill>
        <p:spPr>
          <a:xfrm>
            <a:off x="357007" y="1920015"/>
            <a:ext cx="3885080" cy="2347073"/>
          </a:xfrm>
          <a:prstGeom prst="rect">
            <a:avLst/>
          </a:prstGeom>
        </p:spPr>
      </p:pic>
      <p:pic>
        <p:nvPicPr>
          <p:cNvPr id="5" name="Picture 4">
            <a:extLst>
              <a:ext uri="{FF2B5EF4-FFF2-40B4-BE49-F238E27FC236}">
                <a16:creationId xmlns:a16="http://schemas.microsoft.com/office/drawing/2014/main" id="{B23E8216-3676-3FF0-2239-712F321197E2}"/>
              </a:ext>
            </a:extLst>
          </p:cNvPr>
          <p:cNvPicPr>
            <a:picLocks noChangeAspect="1"/>
          </p:cNvPicPr>
          <p:nvPr/>
        </p:nvPicPr>
        <p:blipFill>
          <a:blip r:embed="rId3"/>
          <a:stretch>
            <a:fillRect/>
          </a:stretch>
        </p:blipFill>
        <p:spPr>
          <a:xfrm>
            <a:off x="4828054" y="1919287"/>
            <a:ext cx="3477186" cy="2347073"/>
          </a:xfrm>
          <a:prstGeom prst="rect">
            <a:avLst/>
          </a:prstGeom>
        </p:spPr>
      </p:pic>
      <p:pic>
        <p:nvPicPr>
          <p:cNvPr id="6" name="Picture 5" descr="A graph with lines and points&#10;&#10;AI-generated content may be incorrect.">
            <a:extLst>
              <a:ext uri="{FF2B5EF4-FFF2-40B4-BE49-F238E27FC236}">
                <a16:creationId xmlns:a16="http://schemas.microsoft.com/office/drawing/2014/main" id="{E58BEBB6-914E-4BD1-3208-61F7A518811E}"/>
              </a:ext>
            </a:extLst>
          </p:cNvPr>
          <p:cNvPicPr>
            <a:picLocks noChangeAspect="1"/>
          </p:cNvPicPr>
          <p:nvPr/>
        </p:nvPicPr>
        <p:blipFill>
          <a:blip r:embed="rId4"/>
          <a:stretch>
            <a:fillRect/>
          </a:stretch>
        </p:blipFill>
        <p:spPr>
          <a:xfrm>
            <a:off x="9236728" y="1715621"/>
            <a:ext cx="2638425" cy="2933700"/>
          </a:xfrm>
          <a:prstGeom prst="rect">
            <a:avLst/>
          </a:prstGeom>
        </p:spPr>
      </p:pic>
      <p:sp>
        <p:nvSpPr>
          <p:cNvPr id="17" name="Arrow: Right 16">
            <a:extLst>
              <a:ext uri="{FF2B5EF4-FFF2-40B4-BE49-F238E27FC236}">
                <a16:creationId xmlns:a16="http://schemas.microsoft.com/office/drawing/2014/main" id="{1E144387-2DBC-B6B2-BA61-E34E732023EA}"/>
              </a:ext>
            </a:extLst>
          </p:cNvPr>
          <p:cNvSpPr/>
          <p:nvPr/>
        </p:nvSpPr>
        <p:spPr>
          <a:xfrm>
            <a:off x="4292179" y="3063871"/>
            <a:ext cx="469241" cy="3450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Arrow: Right 17">
            <a:extLst>
              <a:ext uri="{FF2B5EF4-FFF2-40B4-BE49-F238E27FC236}">
                <a16:creationId xmlns:a16="http://schemas.microsoft.com/office/drawing/2014/main" id="{CC1447EA-23B7-B59B-312E-D853DF00775B}"/>
              </a:ext>
            </a:extLst>
          </p:cNvPr>
          <p:cNvSpPr/>
          <p:nvPr/>
        </p:nvSpPr>
        <p:spPr>
          <a:xfrm>
            <a:off x="8610179" y="3063871"/>
            <a:ext cx="469241" cy="34503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TextBox 18">
            <a:extLst>
              <a:ext uri="{FF2B5EF4-FFF2-40B4-BE49-F238E27FC236}">
                <a16:creationId xmlns:a16="http://schemas.microsoft.com/office/drawing/2014/main" id="{9370C867-C44E-3AD7-2ED3-17B025895981}"/>
              </a:ext>
            </a:extLst>
          </p:cNvPr>
          <p:cNvSpPr txBox="1"/>
          <p:nvPr/>
        </p:nvSpPr>
        <p:spPr>
          <a:xfrm>
            <a:off x="496844" y="4526800"/>
            <a:ext cx="3781534" cy="173895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endParaRPr lang="en-US"/>
          </a:p>
        </p:txBody>
      </p:sp>
      <p:sp>
        <p:nvSpPr>
          <p:cNvPr id="3" name="TextBox 2">
            <a:extLst>
              <a:ext uri="{FF2B5EF4-FFF2-40B4-BE49-F238E27FC236}">
                <a16:creationId xmlns:a16="http://schemas.microsoft.com/office/drawing/2014/main" id="{FBC51659-188C-F371-E4AB-3FA313ED5EC8}"/>
              </a:ext>
            </a:extLst>
          </p:cNvPr>
          <p:cNvSpPr txBox="1"/>
          <p:nvPr/>
        </p:nvSpPr>
        <p:spPr>
          <a:xfrm>
            <a:off x="303627" y="4609607"/>
            <a:ext cx="385054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Light"/>
                <a:cs typeface="Calibri Light"/>
              </a:rPr>
              <a:t>The vectors (2x3) start off in the 3D plane and the following transformations are applied. The vectors are </a:t>
            </a:r>
            <a:endParaRPr lang="en-US" dirty="0"/>
          </a:p>
        </p:txBody>
      </p:sp>
      <p:sp>
        <p:nvSpPr>
          <p:cNvPr id="7" name="TextBox 6">
            <a:extLst>
              <a:ext uri="{FF2B5EF4-FFF2-40B4-BE49-F238E27FC236}">
                <a16:creationId xmlns:a16="http://schemas.microsoft.com/office/drawing/2014/main" id="{F3B54B05-A6DF-84F7-F1BA-5C62A274BAFA}"/>
              </a:ext>
            </a:extLst>
          </p:cNvPr>
          <p:cNvSpPr txBox="1"/>
          <p:nvPr/>
        </p:nvSpPr>
        <p:spPr>
          <a:xfrm>
            <a:off x="4940837" y="4609608"/>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Light"/>
                <a:cs typeface="Calibri Light"/>
              </a:rPr>
              <a:t>These transformations smush the 3D vectors into the 2D plane</a:t>
            </a:r>
            <a:endParaRPr lang="en-US" dirty="0"/>
          </a:p>
        </p:txBody>
      </p:sp>
      <p:sp>
        <p:nvSpPr>
          <p:cNvPr id="8" name="TextBox 7">
            <a:extLst>
              <a:ext uri="{FF2B5EF4-FFF2-40B4-BE49-F238E27FC236}">
                <a16:creationId xmlns:a16="http://schemas.microsoft.com/office/drawing/2014/main" id="{8BB4ACC4-1D7E-3E28-181C-9AAFD4CB56CE}"/>
              </a:ext>
            </a:extLst>
          </p:cNvPr>
          <p:cNvSpPr txBox="1"/>
          <p:nvPr/>
        </p:nvSpPr>
        <p:spPr>
          <a:xfrm>
            <a:off x="9012197" y="4982241"/>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dirty="0">
                <a:ea typeface="Calibri Light"/>
                <a:cs typeface="Calibri Light"/>
              </a:rPr>
              <a:t>The inverse of the 2D vectors are applied and the resulting beta vectors point to the solution with the smallest error in our system of equations</a:t>
            </a:r>
            <a:endParaRPr lang="en-US" dirty="0"/>
          </a:p>
        </p:txBody>
      </p:sp>
    </p:spTree>
    <p:extLst>
      <p:ext uri="{BB962C8B-B14F-4D97-AF65-F5344CB8AC3E}">
        <p14:creationId xmlns:p14="http://schemas.microsoft.com/office/powerpoint/2010/main" val="207443722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2FFFFC-C70E-DB39-2475-7ACE3E1BC99D}"/>
              </a:ext>
            </a:extLst>
          </p:cNvPr>
          <p:cNvSpPr>
            <a:spLocks noGrp="1"/>
          </p:cNvSpPr>
          <p:nvPr>
            <p:ph type="title"/>
          </p:nvPr>
        </p:nvSpPr>
        <p:spPr/>
        <p:txBody>
          <a:bodyPr/>
          <a:lstStyle/>
          <a:p>
            <a:r>
              <a:rPr lang="en-US" dirty="0"/>
              <a:t>Chapter 3: Classification (INCOMPLETE)</a:t>
            </a:r>
          </a:p>
        </p:txBody>
      </p:sp>
      <p:pic>
        <p:nvPicPr>
          <p:cNvPr id="5" name="Content Placeholder 4">
            <a:extLst>
              <a:ext uri="{FF2B5EF4-FFF2-40B4-BE49-F238E27FC236}">
                <a16:creationId xmlns:a16="http://schemas.microsoft.com/office/drawing/2014/main" id="{AA99B082-F1BF-9937-7187-CA45434606DE}"/>
              </a:ext>
            </a:extLst>
          </p:cNvPr>
          <p:cNvPicPr>
            <a:picLocks noGrp="1" noChangeAspect="1"/>
          </p:cNvPicPr>
          <p:nvPr>
            <p:ph idx="1"/>
          </p:nvPr>
        </p:nvPicPr>
        <p:blipFill>
          <a:blip r:embed="rId2"/>
          <a:stretch>
            <a:fillRect/>
          </a:stretch>
        </p:blipFill>
        <p:spPr>
          <a:xfrm>
            <a:off x="5346404" y="2126344"/>
            <a:ext cx="5060339" cy="4381099"/>
          </a:xfrm>
        </p:spPr>
      </p:pic>
      <p:sp>
        <p:nvSpPr>
          <p:cNvPr id="6" name="TextBox 5">
            <a:extLst>
              <a:ext uri="{FF2B5EF4-FFF2-40B4-BE49-F238E27FC236}">
                <a16:creationId xmlns:a16="http://schemas.microsoft.com/office/drawing/2014/main" id="{5F86F2F0-0F70-F9A6-C791-C8B601FF4EDB}"/>
              </a:ext>
            </a:extLst>
          </p:cNvPr>
          <p:cNvSpPr txBox="1"/>
          <p:nvPr/>
        </p:nvSpPr>
        <p:spPr>
          <a:xfrm>
            <a:off x="493485" y="2278743"/>
            <a:ext cx="4412343" cy="1754326"/>
          </a:xfrm>
          <a:prstGeom prst="rect">
            <a:avLst/>
          </a:prstGeom>
          <a:noFill/>
        </p:spPr>
        <p:txBody>
          <a:bodyPr wrap="square" rtlCol="0">
            <a:spAutoFit/>
          </a:bodyPr>
          <a:lstStyle/>
          <a:p>
            <a:r>
              <a:rPr lang="en-US" dirty="0"/>
              <a:t>As I go through the textbook, I am learning more about performance measures and why accuracy alone can’t be the sole evaluation for a model. The textbook references the MNIST dataset and builds a classifier for identifying 5s.</a:t>
            </a:r>
          </a:p>
        </p:txBody>
      </p:sp>
    </p:spTree>
    <p:extLst>
      <p:ext uri="{BB962C8B-B14F-4D97-AF65-F5344CB8AC3E}">
        <p14:creationId xmlns:p14="http://schemas.microsoft.com/office/powerpoint/2010/main" val="31834238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0E3A08-3303-3C3B-3F46-B938972E4D4F}"/>
              </a:ext>
            </a:extLst>
          </p:cNvPr>
          <p:cNvSpPr>
            <a:spLocks noGrp="1"/>
          </p:cNvSpPr>
          <p:nvPr>
            <p:ph type="title"/>
          </p:nvPr>
        </p:nvSpPr>
        <p:spPr/>
        <p:txBody>
          <a:bodyPr/>
          <a:lstStyle/>
          <a:p>
            <a:r>
              <a:rPr lang="en-US" dirty="0"/>
              <a:t>Why Accuracy can be Misleading</a:t>
            </a:r>
          </a:p>
        </p:txBody>
      </p:sp>
      <p:sp>
        <p:nvSpPr>
          <p:cNvPr id="3" name="Content Placeholder 2">
            <a:extLst>
              <a:ext uri="{FF2B5EF4-FFF2-40B4-BE49-F238E27FC236}">
                <a16:creationId xmlns:a16="http://schemas.microsoft.com/office/drawing/2014/main" id="{83775204-67E2-D648-5C5D-AA97403CCC6F}"/>
              </a:ext>
            </a:extLst>
          </p:cNvPr>
          <p:cNvSpPr>
            <a:spLocks noGrp="1"/>
          </p:cNvSpPr>
          <p:nvPr>
            <p:ph idx="1"/>
          </p:nvPr>
        </p:nvSpPr>
        <p:spPr>
          <a:xfrm>
            <a:off x="676657" y="2011680"/>
            <a:ext cx="5738657" cy="4505234"/>
          </a:xfrm>
        </p:spPr>
        <p:txBody>
          <a:bodyPr>
            <a:normAutofit lnSpcReduction="10000"/>
          </a:bodyPr>
          <a:lstStyle/>
          <a:p>
            <a:r>
              <a:rPr lang="en-US" dirty="0"/>
              <a:t>If your goal is to create a classifier for a minority group in a dataset, accuracy can be high if you were guessing the majority all the time. </a:t>
            </a:r>
          </a:p>
          <a:p>
            <a:r>
              <a:rPr lang="en-US" dirty="0"/>
              <a:t>For example, if you’re making an ML model to identify spam emails and only 10% of your inbox is spam, then guessing all of the emails as “NOT SPAM” will yield a 90% accuracy. All while missing the spam emails.</a:t>
            </a:r>
          </a:p>
          <a:p>
            <a:r>
              <a:rPr lang="en-US" dirty="0"/>
              <a:t>If you’re working with a dataset, it’s highly advisable that you don’t look at the original dataset before preprocessing. So, you won’t know which classes are the majority and minority.</a:t>
            </a:r>
          </a:p>
        </p:txBody>
      </p:sp>
      <p:pic>
        <p:nvPicPr>
          <p:cNvPr id="5" name="Picture 4">
            <a:extLst>
              <a:ext uri="{FF2B5EF4-FFF2-40B4-BE49-F238E27FC236}">
                <a16:creationId xmlns:a16="http://schemas.microsoft.com/office/drawing/2014/main" id="{19C2800C-BD92-2B8A-12B5-ACA2193613B2}"/>
              </a:ext>
            </a:extLst>
          </p:cNvPr>
          <p:cNvPicPr>
            <a:picLocks noChangeAspect="1"/>
          </p:cNvPicPr>
          <p:nvPr/>
        </p:nvPicPr>
        <p:blipFill>
          <a:blip r:embed="rId2"/>
          <a:stretch>
            <a:fillRect/>
          </a:stretch>
        </p:blipFill>
        <p:spPr>
          <a:xfrm>
            <a:off x="6415314" y="2011680"/>
            <a:ext cx="5306644" cy="1892663"/>
          </a:xfrm>
          <a:prstGeom prst="rect">
            <a:avLst/>
          </a:prstGeom>
        </p:spPr>
      </p:pic>
      <p:sp>
        <p:nvSpPr>
          <p:cNvPr id="6" name="TextBox 5">
            <a:extLst>
              <a:ext uri="{FF2B5EF4-FFF2-40B4-BE49-F238E27FC236}">
                <a16:creationId xmlns:a16="http://schemas.microsoft.com/office/drawing/2014/main" id="{D8F050D4-2821-A80B-C6C7-7839423416A0}"/>
              </a:ext>
            </a:extLst>
          </p:cNvPr>
          <p:cNvSpPr txBox="1"/>
          <p:nvPr/>
        </p:nvSpPr>
        <p:spPr>
          <a:xfrm>
            <a:off x="6690304" y="3941131"/>
            <a:ext cx="4825039" cy="646331"/>
          </a:xfrm>
          <a:prstGeom prst="rect">
            <a:avLst/>
          </a:prstGeom>
          <a:noFill/>
        </p:spPr>
        <p:txBody>
          <a:bodyPr wrap="none" rtlCol="0">
            <a:spAutoFit/>
          </a:bodyPr>
          <a:lstStyle/>
          <a:p>
            <a:r>
              <a:rPr lang="en-US" i="1" dirty="0"/>
              <a:t>90% accuracy is only possible due to 5s making up</a:t>
            </a:r>
          </a:p>
          <a:p>
            <a:r>
              <a:rPr lang="en-US" i="1" dirty="0"/>
              <a:t>only 10% of the dataset</a:t>
            </a:r>
          </a:p>
        </p:txBody>
      </p:sp>
    </p:spTree>
    <p:extLst>
      <p:ext uri="{BB962C8B-B14F-4D97-AF65-F5344CB8AC3E}">
        <p14:creationId xmlns:p14="http://schemas.microsoft.com/office/powerpoint/2010/main" val="78194735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9D12F7-48EC-CA5E-B768-AC7625DE2818}"/>
              </a:ext>
            </a:extLst>
          </p:cNvPr>
          <p:cNvSpPr>
            <a:spLocks noGrp="1"/>
          </p:cNvSpPr>
          <p:nvPr>
            <p:ph type="title"/>
          </p:nvPr>
        </p:nvSpPr>
        <p:spPr/>
        <p:txBody>
          <a:bodyPr/>
          <a:lstStyle/>
          <a:p>
            <a:r>
              <a:rPr lang="en-US" dirty="0"/>
              <a:t>What’s Next?</a:t>
            </a:r>
          </a:p>
        </p:txBody>
      </p:sp>
      <p:sp>
        <p:nvSpPr>
          <p:cNvPr id="3" name="Content Placeholder 2">
            <a:extLst>
              <a:ext uri="{FF2B5EF4-FFF2-40B4-BE49-F238E27FC236}">
                <a16:creationId xmlns:a16="http://schemas.microsoft.com/office/drawing/2014/main" id="{7653988B-2DE5-22C0-A966-B5BC9DE91E29}"/>
              </a:ext>
            </a:extLst>
          </p:cNvPr>
          <p:cNvSpPr>
            <a:spLocks noGrp="1"/>
          </p:cNvSpPr>
          <p:nvPr>
            <p:ph idx="1"/>
          </p:nvPr>
        </p:nvSpPr>
        <p:spPr/>
        <p:txBody>
          <a:bodyPr/>
          <a:lstStyle/>
          <a:p>
            <a:pPr marL="0" indent="0">
              <a:buNone/>
            </a:pPr>
            <a:endParaRPr lang="en-US" dirty="0"/>
          </a:p>
          <a:p>
            <a:pPr marL="0" indent="0">
              <a:buNone/>
            </a:pPr>
            <a:r>
              <a:rPr lang="en-US" dirty="0"/>
              <a:t>Turns out, I have all the skills to finally make a Neural Network (NN) from scratch!</a:t>
            </a:r>
          </a:p>
          <a:p>
            <a:pPr>
              <a:buFontTx/>
              <a:buChar char="-"/>
            </a:pPr>
            <a:r>
              <a:rPr lang="en-US" dirty="0"/>
              <a:t> I have learned a lot of linear algebra that I hope to apply onto NN.</a:t>
            </a:r>
          </a:p>
          <a:p>
            <a:pPr>
              <a:buFontTx/>
              <a:buChar char="-"/>
            </a:pPr>
            <a:r>
              <a:rPr lang="en-US" dirty="0"/>
              <a:t> I realize I don’t need to learn the other chapters (for now) because all the skills for NN are found in chapter 4.</a:t>
            </a:r>
          </a:p>
          <a:p>
            <a:pPr marL="0" indent="0">
              <a:buNone/>
            </a:pPr>
            <a:r>
              <a:rPr lang="en-US" dirty="0"/>
              <a:t>- I want to apply my </a:t>
            </a:r>
            <a:r>
              <a:rPr lang="en-US" dirty="0" err="1"/>
              <a:t>Softmax</a:t>
            </a:r>
            <a:r>
              <a:rPr lang="en-US" dirty="0"/>
              <a:t> regression algorithm onto another dataset to truly make the practice solution mine.</a:t>
            </a:r>
          </a:p>
        </p:txBody>
      </p:sp>
    </p:spTree>
    <p:extLst>
      <p:ext uri="{BB962C8B-B14F-4D97-AF65-F5344CB8AC3E}">
        <p14:creationId xmlns:p14="http://schemas.microsoft.com/office/powerpoint/2010/main" val="428903501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4ACE56-D995-E82B-2641-056379E6259E}"/>
              </a:ext>
            </a:extLst>
          </p:cNvPr>
          <p:cNvSpPr>
            <a:spLocks noGrp="1"/>
          </p:cNvSpPr>
          <p:nvPr>
            <p:ph type="title"/>
          </p:nvPr>
        </p:nvSpPr>
        <p:spPr/>
        <p:txBody>
          <a:bodyPr/>
          <a:lstStyle/>
          <a:p>
            <a:r>
              <a:rPr lang="en-US" dirty="0">
                <a:ea typeface="Calibri Light"/>
                <a:cs typeface="Calibri Light"/>
              </a:rPr>
              <a:t>Citations</a:t>
            </a:r>
            <a:endParaRPr lang="en-US" dirty="0"/>
          </a:p>
        </p:txBody>
      </p:sp>
      <p:sp>
        <p:nvSpPr>
          <p:cNvPr id="3" name="Content Placeholder 2">
            <a:extLst>
              <a:ext uri="{FF2B5EF4-FFF2-40B4-BE49-F238E27FC236}">
                <a16:creationId xmlns:a16="http://schemas.microsoft.com/office/drawing/2014/main" id="{1EFAEEB5-7342-7F44-E87C-96D5DAC32815}"/>
              </a:ext>
            </a:extLst>
          </p:cNvPr>
          <p:cNvSpPr>
            <a:spLocks noGrp="1"/>
          </p:cNvSpPr>
          <p:nvPr>
            <p:ph idx="1"/>
          </p:nvPr>
        </p:nvSpPr>
        <p:spPr/>
        <p:txBody>
          <a:bodyPr vert="horz" lIns="91440" tIns="45720" rIns="91440" bIns="45720" rtlCol="0" anchor="t">
            <a:normAutofit/>
          </a:bodyPr>
          <a:lstStyle/>
          <a:p>
            <a:r>
              <a:rPr lang="en-US" dirty="0">
                <a:ea typeface="+mn-lt"/>
                <a:cs typeface="+mn-lt"/>
              </a:rPr>
              <a:t>3Blue1Brown. (n.d.). </a:t>
            </a:r>
            <a:r>
              <a:rPr lang="en-US" dirty="0">
                <a:ea typeface="+mn-lt"/>
                <a:cs typeface="+mn-lt"/>
                <a:hlinkClick r:id="rId2"/>
              </a:rPr>
              <a:t>https://www.3blue1brown.com/topics/linear-algebra</a:t>
            </a:r>
            <a:r>
              <a:rPr lang="en-US" dirty="0">
                <a:ea typeface="+mn-lt"/>
                <a:cs typeface="+mn-lt"/>
              </a:rPr>
              <a:t> </a:t>
            </a:r>
            <a:endParaRPr lang="en-US" dirty="0">
              <a:ea typeface="Calibri Light" panose="020F0302020204030204"/>
              <a:cs typeface="Calibri Light" panose="020F0302020204030204"/>
            </a:endParaRPr>
          </a:p>
          <a:p>
            <a:r>
              <a:rPr lang="en-US" err="1">
                <a:ea typeface="+mn-lt"/>
                <a:cs typeface="+mn-lt"/>
              </a:rPr>
              <a:t>Ageron</a:t>
            </a:r>
            <a:r>
              <a:rPr lang="en-US">
                <a:ea typeface="+mn-lt"/>
                <a:cs typeface="+mn-lt"/>
              </a:rPr>
              <a:t>. (n.d.). </a:t>
            </a:r>
            <a:r>
              <a:rPr lang="en-US" i="1">
                <a:ea typeface="+mn-lt"/>
                <a:cs typeface="+mn-lt"/>
              </a:rPr>
              <a:t>Handson-ML3/04_training_linear_models.ipynb at Main · </a:t>
            </a:r>
            <a:r>
              <a:rPr lang="en-US" i="1" err="1">
                <a:ea typeface="+mn-lt"/>
                <a:cs typeface="+mn-lt"/>
              </a:rPr>
              <a:t>Ageron</a:t>
            </a:r>
            <a:r>
              <a:rPr lang="en-US" i="1">
                <a:ea typeface="+mn-lt"/>
                <a:cs typeface="+mn-lt"/>
              </a:rPr>
              <a:t>/Handson-ML3</a:t>
            </a:r>
            <a:r>
              <a:rPr lang="en-US">
                <a:ea typeface="+mn-lt"/>
                <a:cs typeface="+mn-lt"/>
              </a:rPr>
              <a:t>. GitHub. </a:t>
            </a:r>
            <a:r>
              <a:rPr lang="en-US" dirty="0">
                <a:ea typeface="+mn-lt"/>
                <a:cs typeface="+mn-lt"/>
                <a:hlinkClick r:id="rId3"/>
              </a:rPr>
              <a:t>https://github.com/ageron/handson-ml3/blob/main/04_training_linear_models.ipynb</a:t>
            </a:r>
            <a:r>
              <a:rPr lang="en-US" dirty="0">
                <a:ea typeface="+mn-lt"/>
                <a:cs typeface="+mn-lt"/>
              </a:rPr>
              <a:t> </a:t>
            </a:r>
            <a:endParaRPr lang="en-US" dirty="0"/>
          </a:p>
          <a:p>
            <a:r>
              <a:rPr lang="en-US" dirty="0">
                <a:ea typeface="+mn-lt"/>
                <a:cs typeface="+mn-lt"/>
              </a:rPr>
              <a:t>Jiao, J. (n.d.). YouTube. </a:t>
            </a:r>
            <a:r>
              <a:rPr lang="en-US" dirty="0">
                <a:ea typeface="+mn-lt"/>
                <a:cs typeface="+mn-lt"/>
                <a:hlinkClick r:id="rId4"/>
              </a:rPr>
              <a:t>https://www.youtube.com/watch?v=HY_VtvUKock</a:t>
            </a:r>
            <a:r>
              <a:rPr lang="en-US" dirty="0">
                <a:ea typeface="+mn-lt"/>
                <a:cs typeface="+mn-lt"/>
              </a:rPr>
              <a:t> </a:t>
            </a:r>
            <a:endParaRPr lang="en-US" dirty="0"/>
          </a:p>
          <a:p>
            <a:endParaRPr lang="en-US" dirty="0">
              <a:ea typeface="Calibri Light"/>
              <a:cs typeface="Calibri Light"/>
            </a:endParaRPr>
          </a:p>
        </p:txBody>
      </p:sp>
    </p:spTree>
    <p:extLst>
      <p:ext uri="{BB962C8B-B14F-4D97-AF65-F5344CB8AC3E}">
        <p14:creationId xmlns:p14="http://schemas.microsoft.com/office/powerpoint/2010/main" val="96577192"/>
      </p:ext>
    </p:extLst>
  </p:cSld>
  <p:clrMapOvr>
    <a:masterClrMapping/>
  </p:clrMapOvr>
</p:sld>
</file>

<file path=ppt/theme/theme1.xml><?xml version="1.0" encoding="utf-8"?>
<a:theme xmlns:a="http://schemas.openxmlformats.org/drawingml/2006/main" name="Metropolitan">
  <a:themeElements>
    <a:clrScheme name="Metropolitan">
      <a:dk1>
        <a:sysClr val="windowText" lastClr="000000"/>
      </a:dk1>
      <a:lt1>
        <a:sysClr val="window" lastClr="FFFFFF"/>
      </a:lt1>
      <a:dk2>
        <a:srgbClr val="162F33"/>
      </a:dk2>
      <a:lt2>
        <a:srgbClr val="EAF0E0"/>
      </a:lt2>
      <a:accent1>
        <a:srgbClr val="50B4C8"/>
      </a:accent1>
      <a:accent2>
        <a:srgbClr val="A8B97F"/>
      </a:accent2>
      <a:accent3>
        <a:srgbClr val="9B9256"/>
      </a:accent3>
      <a:accent4>
        <a:srgbClr val="657689"/>
      </a:accent4>
      <a:accent5>
        <a:srgbClr val="7A855D"/>
      </a:accent5>
      <a:accent6>
        <a:srgbClr val="84AC9D"/>
      </a:accent6>
      <a:hlink>
        <a:srgbClr val="2370CD"/>
      </a:hlink>
      <a:folHlink>
        <a:srgbClr val="877589"/>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b72a28c3-99d3-4672-bbc9-c8b69f0005ed"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B0845569CB71048BF68C6F0C8E03841" ma:contentTypeVersion="14" ma:contentTypeDescription="Create a new document." ma:contentTypeScope="" ma:versionID="3c837625c58937060512a2f823c78951">
  <xsd:schema xmlns:xsd="http://www.w3.org/2001/XMLSchema" xmlns:xs="http://www.w3.org/2001/XMLSchema" xmlns:p="http://schemas.microsoft.com/office/2006/metadata/properties" xmlns:ns3="b72a28c3-99d3-4672-bbc9-c8b69f0005ed" xmlns:ns4="ec68fe10-3659-40e8-a4f2-f4b5daa70228" targetNamespace="http://schemas.microsoft.com/office/2006/metadata/properties" ma:root="true" ma:fieldsID="ee61d6de98c87927a5addbaceddb426c" ns3:_="" ns4:_="">
    <xsd:import namespace="b72a28c3-99d3-4672-bbc9-c8b69f0005ed"/>
    <xsd:import namespace="ec68fe10-3659-40e8-a4f2-f4b5daa70228"/>
    <xsd:element name="properties">
      <xsd:complexType>
        <xsd:sequence>
          <xsd:element name="documentManagement">
            <xsd:complexType>
              <xsd:all>
                <xsd:element ref="ns3:MediaServiceMetadata" minOccurs="0"/>
                <xsd:element ref="ns3:MediaServiceFastMetadata" minOccurs="0"/>
                <xsd:element ref="ns3:MediaServiceSearchProperties" minOccurs="0"/>
                <xsd:element ref="ns3:MediaServiceObjectDetectorVersions" minOccurs="0"/>
                <xsd:element ref="ns3:_activity" minOccurs="0"/>
                <xsd:element ref="ns4:SharedWithUsers" minOccurs="0"/>
                <xsd:element ref="ns4:SharedWithDetails" minOccurs="0"/>
                <xsd:element ref="ns4:SharingHintHash" minOccurs="0"/>
                <xsd:element ref="ns3:MediaServiceDateTaken" minOccurs="0"/>
                <xsd:element ref="ns3:MediaServiceSystemTags" minOccurs="0"/>
                <xsd:element ref="ns3:MediaServiceGenerationTime" minOccurs="0"/>
                <xsd:element ref="ns3:MediaServiceEventHashCode" minOccurs="0"/>
                <xsd:element ref="ns3:MediaLengthInSeconds" minOccurs="0"/>
                <xsd:element ref="ns3: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72a28c3-99d3-4672-bbc9-c8b69f0005e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_activity" ma:index="12" nillable="true" ma:displayName="_activity" ma:hidden="true" ma:internalName="_activity">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SystemTags" ma:index="17" nillable="true" ma:displayName="MediaServiceSystemTags" ma:hidden="true" ma:internalName="MediaServiceSystemTags" ma:readOnly="true">
      <xsd:simpleType>
        <xsd:restriction base="dms:Note"/>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ec68fe10-3659-40e8-a4f2-f4b5daa70228" elementFormDefault="qualified">
    <xsd:import namespace="http://schemas.microsoft.com/office/2006/documentManagement/types"/>
    <xsd:import namespace="http://schemas.microsoft.com/office/infopath/2007/PartnerControls"/>
    <xsd:element name="SharedWithUsers" ma:index="13"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4" nillable="true" ma:displayName="Shared With Details" ma:internalName="SharedWithDetails" ma:readOnly="true">
      <xsd:simpleType>
        <xsd:restriction base="dms:Note">
          <xsd:maxLength value="255"/>
        </xsd:restriction>
      </xsd:simpleType>
    </xsd:element>
    <xsd:element name="SharingHintHash" ma:index="15"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DA9B151-CE16-4F4C-A8D8-7B86DFBBD776}">
  <ds:schemaRefs>
    <ds:schemaRef ds:uri="http://schemas.microsoft.com/sharepoint/v3/contenttype/forms"/>
  </ds:schemaRefs>
</ds:datastoreItem>
</file>

<file path=customXml/itemProps2.xml><?xml version="1.0" encoding="utf-8"?>
<ds:datastoreItem xmlns:ds="http://schemas.openxmlformats.org/officeDocument/2006/customXml" ds:itemID="{7774FB69-C701-4479-B703-DC947E2A16B3}">
  <ds:schemaRefs>
    <ds:schemaRef ds:uri="http://purl.org/dc/elements/1.1/"/>
    <ds:schemaRef ds:uri="ec68fe10-3659-40e8-a4f2-f4b5daa70228"/>
    <ds:schemaRef ds:uri="http://purl.org/dc/terms/"/>
    <ds:schemaRef ds:uri="http://www.w3.org/XML/1998/namespace"/>
    <ds:schemaRef ds:uri="http://schemas.microsoft.com/office/2006/metadata/properties"/>
    <ds:schemaRef ds:uri="http://schemas.microsoft.com/office/infopath/2007/PartnerControls"/>
    <ds:schemaRef ds:uri="http://schemas.microsoft.com/office/2006/documentManagement/types"/>
    <ds:schemaRef ds:uri="http://purl.org/dc/dcmitype/"/>
    <ds:schemaRef ds:uri="http://schemas.openxmlformats.org/package/2006/metadata/core-properties"/>
    <ds:schemaRef ds:uri="b72a28c3-99d3-4672-bbc9-c8b69f0005ed"/>
  </ds:schemaRefs>
</ds:datastoreItem>
</file>

<file path=customXml/itemProps3.xml><?xml version="1.0" encoding="utf-8"?>
<ds:datastoreItem xmlns:ds="http://schemas.openxmlformats.org/officeDocument/2006/customXml" ds:itemID="{A7D9456F-1891-4402-8E11-E4DB4036A9C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72a28c3-99d3-4672-bbc9-c8b69f0005ed"/>
    <ds:schemaRef ds:uri="ec68fe10-3659-40e8-a4f2-f4b5daa7022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741bf7de-e2e5-46df-8d67-82607df9deaa}" enabled="0" method="" siteId="{741bf7de-e2e5-46df-8d67-82607df9deaa}" removed="1"/>
</clbl:labelList>
</file>

<file path=docProps/app.xml><?xml version="1.0" encoding="utf-8"?>
<Properties xmlns="http://schemas.openxmlformats.org/officeDocument/2006/extended-properties" xmlns:vt="http://schemas.openxmlformats.org/officeDocument/2006/docPropsVTypes">
  <Template>TM03457491[[fn=Metropolitan]]</Template>
  <TotalTime>2972</TotalTime>
  <Words>1574</Words>
  <Application>Microsoft Office PowerPoint</Application>
  <PresentationFormat>Widescreen</PresentationFormat>
  <Paragraphs>141</Paragraphs>
  <Slides>26</Slides>
  <Notes>0</Notes>
  <HiddenSlides>0</HiddenSlides>
  <MMClips>2</MMClips>
  <ScaleCrop>false</ScaleCrop>
  <HeadingPairs>
    <vt:vector size="4" baseType="variant">
      <vt:variant>
        <vt:lpstr>Theme</vt:lpstr>
      </vt:variant>
      <vt:variant>
        <vt:i4>1</vt:i4>
      </vt:variant>
      <vt:variant>
        <vt:lpstr>Slide Titles</vt:lpstr>
      </vt:variant>
      <vt:variant>
        <vt:i4>26</vt:i4>
      </vt:variant>
    </vt:vector>
  </HeadingPairs>
  <TitlesOfParts>
    <vt:vector size="27" baseType="lpstr">
      <vt:lpstr>Metropolitan</vt:lpstr>
      <vt:lpstr>Summer Final Check-In</vt:lpstr>
      <vt:lpstr>Purpose</vt:lpstr>
      <vt:lpstr>Table of Contents</vt:lpstr>
      <vt:lpstr>Café Bich Nga Data Pipeline MVP</vt:lpstr>
      <vt:lpstr>Scanner: Upload to Google Drive</vt:lpstr>
      <vt:lpstr>Google API Services - Authentication</vt:lpstr>
      <vt:lpstr>Google Drive: Download the Bills</vt:lpstr>
      <vt:lpstr>OCR – EasyOCR</vt:lpstr>
      <vt:lpstr>Google Sheets Template</vt:lpstr>
      <vt:lpstr>Google Sheets: Append a JSON file as a Row</vt:lpstr>
      <vt:lpstr>The ML Code</vt:lpstr>
      <vt:lpstr>Issues with the MVP</vt:lpstr>
      <vt:lpstr>Chapter 4: Softmax Regression Project</vt:lpstr>
      <vt:lpstr> Linear Regression</vt:lpstr>
      <vt:lpstr>Logistic Regression</vt:lpstr>
      <vt:lpstr>Batch Gradient Descent</vt:lpstr>
      <vt:lpstr>Regularization</vt:lpstr>
      <vt:lpstr>Results w/ Early Stopping</vt:lpstr>
      <vt:lpstr>Results w/ Early Stopping (cont.)</vt:lpstr>
      <vt:lpstr>How Normal Equations Work </vt:lpstr>
      <vt:lpstr>How Normal Equations Work (cont.)</vt:lpstr>
      <vt:lpstr>How Normal Equations Work (cont.)</vt:lpstr>
      <vt:lpstr>Chapter 3: Classification (INCOMPLETE)</vt:lpstr>
      <vt:lpstr>Why Accuracy can be Misleading</vt:lpstr>
      <vt:lpstr>What’s Next?</vt:lpstr>
      <vt:lpstr>Citations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Jason Lee</dc:creator>
  <cp:lastModifiedBy>Jason Lee</cp:lastModifiedBy>
  <cp:revision>330</cp:revision>
  <dcterms:created xsi:type="dcterms:W3CDTF">2025-07-09T20:08:53Z</dcterms:created>
  <dcterms:modified xsi:type="dcterms:W3CDTF">2025-07-31T18:03:01Z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0x010100AB0845569CB71048BF68C6F0C8E03841</vt:lpwstr>
  </property>
</Properties>
</file>